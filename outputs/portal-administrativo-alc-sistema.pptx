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861833dca149d5" /><Relationship Type="http://schemas.openxmlformats.org/officeDocument/2006/relationships/extended-properties" Target="/docProps/app.xml" Id="R581008f4a54643db" /><Relationship Type="http://schemas.openxmlformats.org/officeDocument/2006/relationships/officeDocument" Target="/ppt/presentation.xml" Id="R4cd7924158ca49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6e96e34f89451a"/>
  </p:sldMasterIdLst>
  <p:notesMasterIdLst>
    <p:notesMasterId xmlns:r="http://schemas.openxmlformats.org/officeDocument/2006/relationships" r:id="R57f182bd88e94a2c"/>
  </p:notesMasterIdLst>
  <p:sldIdLst>
    <p:sldId xmlns:r="http://schemas.openxmlformats.org/officeDocument/2006/relationships" id="256" r:id="Rd449b3f61a414567"/>
    <p:sldId xmlns:r="http://schemas.openxmlformats.org/officeDocument/2006/relationships" id="257" r:id="R403e5932814a4c25"/>
    <p:sldId xmlns:r="http://schemas.openxmlformats.org/officeDocument/2006/relationships" id="258" r:id="Rf5e41bb99dfc4e96"/>
    <p:sldId xmlns:r="http://schemas.openxmlformats.org/officeDocument/2006/relationships" id="259" r:id="R94f426fe069a4b4a"/>
    <p:sldId xmlns:r="http://schemas.openxmlformats.org/officeDocument/2006/relationships" id="260" r:id="R02b388cb582c43b9"/>
    <p:sldId xmlns:r="http://schemas.openxmlformats.org/officeDocument/2006/relationships" id="261" r:id="Rf7023d8ec2f04a44"/>
    <p:sldId xmlns:r="http://schemas.openxmlformats.org/officeDocument/2006/relationships" id="262" r:id="R362cd9bcb4104560"/>
    <p:sldId xmlns:r="http://schemas.openxmlformats.org/officeDocument/2006/relationships" id="263" r:id="R7e371b03490642af"/>
    <p:sldId xmlns:r="http://schemas.openxmlformats.org/officeDocument/2006/relationships" id="264" r:id="R610d8bb59f2f4886"/>
    <p:sldId xmlns:r="http://schemas.openxmlformats.org/officeDocument/2006/relationships" id="265" r:id="R2ec91c2d79c04d2a"/>
    <p:sldId xmlns:r="http://schemas.openxmlformats.org/officeDocument/2006/relationships" id="266" r:id="Reea539b753d94d3e"/>
    <p:sldId xmlns:r="http://schemas.openxmlformats.org/officeDocument/2006/relationships" id="267" r:id="R1975207547a746bd"/>
    <p:sldId xmlns:r="http://schemas.openxmlformats.org/officeDocument/2006/relationships" id="268" r:id="R78242d6129e64c10"/>
    <p:sldId xmlns:r="http://schemas.openxmlformats.org/officeDocument/2006/relationships" id="269" r:id="R978944cba25a4efb"/>
    <p:sldId xmlns:r="http://schemas.openxmlformats.org/officeDocument/2006/relationships" id="270" r:id="R66cf934efbb5460b"/>
    <p:sldId xmlns:r="http://schemas.openxmlformats.org/officeDocument/2006/relationships" id="271" r:id="R5774e073949f4c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65886894da4cc9" /><Relationship Type="http://schemas.openxmlformats.org/officeDocument/2006/relationships/slideMaster" Target="/ppt/slideMasters/slideMaster1.xml" Id="R816e96e34f89451a" /><Relationship Type="http://schemas.openxmlformats.org/officeDocument/2006/relationships/notesMaster" Target="/ppt/notesMasters/notesMaster1.xml" Id="R57f182bd88e94a2c" /><Relationship Type="http://schemas.openxmlformats.org/officeDocument/2006/relationships/presProps" Target="/ppt/presProps.xml" Id="R6b335b142cf644e6" /><Relationship Type="http://schemas.openxmlformats.org/officeDocument/2006/relationships/tableStyles" Target="/ppt/tableStyles.xml" Id="R5da9e1145340402a" /><Relationship Type="http://schemas.openxmlformats.org/officeDocument/2006/relationships/slide" Target="/ppt/slides/slide1.xml" Id="Rd449b3f61a414567" /><Relationship Type="http://schemas.openxmlformats.org/officeDocument/2006/relationships/slide" Target="/ppt/slides/slide2.xml" Id="R403e5932814a4c25" /><Relationship Type="http://schemas.openxmlformats.org/officeDocument/2006/relationships/slide" Target="/ppt/slides/slide3.xml" Id="Rf5e41bb99dfc4e96" /><Relationship Type="http://schemas.openxmlformats.org/officeDocument/2006/relationships/slide" Target="/ppt/slides/slide4.xml" Id="R94f426fe069a4b4a" /><Relationship Type="http://schemas.openxmlformats.org/officeDocument/2006/relationships/slide" Target="/ppt/slides/slide5.xml" Id="R02b388cb582c43b9" /><Relationship Type="http://schemas.openxmlformats.org/officeDocument/2006/relationships/slide" Target="/ppt/slides/slide6.xml" Id="Rf7023d8ec2f04a44" /><Relationship Type="http://schemas.openxmlformats.org/officeDocument/2006/relationships/slide" Target="/ppt/slides/slide7.xml" Id="R362cd9bcb4104560" /><Relationship Type="http://schemas.openxmlformats.org/officeDocument/2006/relationships/slide" Target="/ppt/slides/slide8.xml" Id="R7e371b03490642af" /><Relationship Type="http://schemas.openxmlformats.org/officeDocument/2006/relationships/slide" Target="/ppt/slides/slide9.xml" Id="R610d8bb59f2f4886" /><Relationship Type="http://schemas.openxmlformats.org/officeDocument/2006/relationships/slide" Target="/ppt/slides/slide10.xml" Id="R2ec91c2d79c04d2a" /><Relationship Type="http://schemas.openxmlformats.org/officeDocument/2006/relationships/slide" Target="/ppt/slides/slide11.xml" Id="Reea539b753d94d3e" /><Relationship Type="http://schemas.openxmlformats.org/officeDocument/2006/relationships/slide" Target="/ppt/slides/slide12.xml" Id="R1975207547a746bd" /><Relationship Type="http://schemas.openxmlformats.org/officeDocument/2006/relationships/slide" Target="/ppt/slides/slide13.xml" Id="R78242d6129e64c10" /><Relationship Type="http://schemas.openxmlformats.org/officeDocument/2006/relationships/slide" Target="/ppt/slides/slide14.xml" Id="R978944cba25a4efb" /><Relationship Type="http://schemas.openxmlformats.org/officeDocument/2006/relationships/slide" Target="/ppt/slides/slide15.xml" Id="R66cf934efbb5460b" /><Relationship Type="http://schemas.openxmlformats.org/officeDocument/2006/relationships/slide" Target="/ppt/slides/slide16.xml" Id="R5774e073949f4c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272ef80adf49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f5eb54f9d24467" /><Relationship Type="http://schemas.openxmlformats.org/officeDocument/2006/relationships/notesMaster" Target="/ppt/notesMasters/notesMaster1.xml" Id="R30626e67892d49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e1a1244f74760" /><Relationship Type="http://schemas.openxmlformats.org/officeDocument/2006/relationships/notesMaster" Target="/ppt/notesMasters/notesMaster1.xml" Id="R7283a8bf9aa340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7d405ed6a64a36" /><Relationship Type="http://schemas.openxmlformats.org/officeDocument/2006/relationships/notesMaster" Target="/ppt/notesMasters/notesMaster1.xml" Id="R0dda182b29b848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440c9d130a4e28" /><Relationship Type="http://schemas.openxmlformats.org/officeDocument/2006/relationships/notesMaster" Target="/ppt/notesMasters/notesMaster1.xml" Id="Rc82f4cb1512b45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03a6b782304ffd" /><Relationship Type="http://schemas.openxmlformats.org/officeDocument/2006/relationships/notesMaster" Target="/ppt/notesMasters/notesMaster1.xml" Id="R3f41f6e8e7b742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dee4eb02aa40f4" /><Relationship Type="http://schemas.openxmlformats.org/officeDocument/2006/relationships/notesMaster" Target="/ppt/notesMasters/notesMaster1.xml" Id="R05d9ccc902e54e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048e5113234483" /><Relationship Type="http://schemas.openxmlformats.org/officeDocument/2006/relationships/notesMaster" Target="/ppt/notesMasters/notesMaster1.xml" Id="Rfb8abe49e25349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3ef1910bbe4b77" /><Relationship Type="http://schemas.openxmlformats.org/officeDocument/2006/relationships/notesMaster" Target="/ppt/notesMasters/notesMaster1.xml" Id="R82dd1f8bbf1c4c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bfbfd5e06543ab" /><Relationship Type="http://schemas.openxmlformats.org/officeDocument/2006/relationships/notesMaster" Target="/ppt/notesMasters/notesMaster1.xml" Id="Rc187292348334b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80f7e62de54628" /><Relationship Type="http://schemas.openxmlformats.org/officeDocument/2006/relationships/notesMaster" Target="/ppt/notesMasters/notesMaster1.xml" Id="R3c54578ae1e148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34ce724b6c4929" /><Relationship Type="http://schemas.openxmlformats.org/officeDocument/2006/relationships/notesMaster" Target="/ppt/notesMasters/notesMaster1.xml" Id="R6b37a49c3fb447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c212ef6c0d4c41" /><Relationship Type="http://schemas.openxmlformats.org/officeDocument/2006/relationships/notesMaster" Target="/ppt/notesMasters/notesMaster1.xml" Id="R2cc6956c4bc44a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1ca455ffbc4e96" /><Relationship Type="http://schemas.openxmlformats.org/officeDocument/2006/relationships/notesMaster" Target="/ppt/notesMasters/notesMaster1.xml" Id="Rbaab0685ab1448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884b94480940fc" /><Relationship Type="http://schemas.openxmlformats.org/officeDocument/2006/relationships/notesMaster" Target="/ppt/notesMasters/notesMaster1.xml" Id="R1ed9545216894b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bfe63252904d81" /><Relationship Type="http://schemas.openxmlformats.org/officeDocument/2006/relationships/notesMaster" Target="/ppt/notesMasters/notesMaster1.xml" Id="R05d2d598c1864e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a14ff578364cc2" /><Relationship Type="http://schemas.openxmlformats.org/officeDocument/2006/relationships/notesMaster" Target="/ppt/notesMasters/notesMaster1.xml" Id="R9db5b1599c1d4f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d18a9000c47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6660bf55464761" /><Relationship Type="http://schemas.openxmlformats.org/officeDocument/2006/relationships/slideLayout" Target="/ppt/slideLayouts/slideLayout1.xml" Id="R6dd6e8793e8f4a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d6e8793e8f4a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e9c5e24f94452" /><Relationship Type="http://schemas.openxmlformats.org/officeDocument/2006/relationships/image" Target="/ppt/media/image.png" Id="R19f630a922b84793" /><Relationship Type="http://schemas.openxmlformats.org/officeDocument/2006/relationships/notesSlide" Target="/ppt/notesSlides/notesSlide1.xml" Id="R76c2674ca6c146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9963820564134" /><Relationship Type="http://schemas.openxmlformats.org/officeDocument/2006/relationships/image" Target="/ppt/media/image2.png" Id="R1fd82d9c6b2348a5" /><Relationship Type="http://schemas.openxmlformats.org/officeDocument/2006/relationships/notesSlide" Target="/ppt/notesSlides/notesSlide2.xml" Id="Rf94dec1007fe4e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523d801114ba6" /><Relationship Type="http://schemas.openxmlformats.org/officeDocument/2006/relationships/image" Target="/ppt/media/image3.png" Id="R11fc2d5747034786" /><Relationship Type="http://schemas.openxmlformats.org/officeDocument/2006/relationships/notesSlide" Target="/ppt/notesSlides/notesSlide3.xml" Id="R6dcfdcfe965145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f182d6b76420e" /><Relationship Type="http://schemas.openxmlformats.org/officeDocument/2006/relationships/image" Target="/ppt/media/image4.png" Id="R75810565c53c4a27" /><Relationship Type="http://schemas.openxmlformats.org/officeDocument/2006/relationships/notesSlide" Target="/ppt/notesSlides/notesSlide4.xml" Id="R4781386054db4f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e22dfb0534100" /><Relationship Type="http://schemas.openxmlformats.org/officeDocument/2006/relationships/image" Target="/ppt/media/image5.png" Id="R8e3e139faf5444bb" /><Relationship Type="http://schemas.openxmlformats.org/officeDocument/2006/relationships/notesSlide" Target="/ppt/notesSlides/notesSlide5.xml" Id="R9916b43b2bf848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d6db2aaa9451b" /><Relationship Type="http://schemas.openxmlformats.org/officeDocument/2006/relationships/image" Target="/ppt/media/image6.png" Id="R4636bf8568114cef" /><Relationship Type="http://schemas.openxmlformats.org/officeDocument/2006/relationships/notesSlide" Target="/ppt/notesSlides/notesSlide6.xml" Id="R317f40ccd98546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eb986bf704c71" /><Relationship Type="http://schemas.openxmlformats.org/officeDocument/2006/relationships/image" Target="/ppt/media/image7.png" Id="R1f39ca0b2d994d50" /><Relationship Type="http://schemas.openxmlformats.org/officeDocument/2006/relationships/notesSlide" Target="/ppt/notesSlides/notesSlide7.xml" Id="Rbb22d8256b104c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a2464382d435a" /><Relationship Type="http://schemas.openxmlformats.org/officeDocument/2006/relationships/image" Target="/ppt/media/image8.png" Id="R51d9e5f7445b4048" /><Relationship Type="http://schemas.openxmlformats.org/officeDocument/2006/relationships/notesSlide" Target="/ppt/notesSlides/notesSlide8.xml" Id="R3a71c492e96648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71ffef483471e" /><Relationship Type="http://schemas.openxmlformats.org/officeDocument/2006/relationships/image" Target="/ppt/media/image9.png" Id="Rc80519c018ff48ee" /><Relationship Type="http://schemas.openxmlformats.org/officeDocument/2006/relationships/notesSlide" Target="/ppt/notesSlides/notesSlide9.xml" Id="R85e7853919a84b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d88e28cd94a0b" /><Relationship Type="http://schemas.openxmlformats.org/officeDocument/2006/relationships/image" Target="/ppt/media/image10.png" Id="Rb4b197a35c2c49d7" /><Relationship Type="http://schemas.openxmlformats.org/officeDocument/2006/relationships/notesSlide" Target="/ppt/notesSlides/notesSlide10.xml" Id="R15a98673d57f4b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4baf669144847" /><Relationship Type="http://schemas.openxmlformats.org/officeDocument/2006/relationships/image" Target="/ppt/media/image11.png" Id="R7741c912d01a4704" /><Relationship Type="http://schemas.openxmlformats.org/officeDocument/2006/relationships/notesSlide" Target="/ppt/notesSlides/notesSlide11.xml" Id="R7944346f1aae4c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f0f538a7b41c9" /><Relationship Type="http://schemas.openxmlformats.org/officeDocument/2006/relationships/image" Target="/ppt/media/image12.png" Id="Rf7433acf04574557" /><Relationship Type="http://schemas.openxmlformats.org/officeDocument/2006/relationships/notesSlide" Target="/ppt/notesSlides/notesSlide12.xml" Id="R5d25435173da40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ec928b1f74d11" /><Relationship Type="http://schemas.openxmlformats.org/officeDocument/2006/relationships/image" Target="/ppt/media/image13.png" Id="R3e397decb5f742a1" /><Relationship Type="http://schemas.openxmlformats.org/officeDocument/2006/relationships/notesSlide" Target="/ppt/notesSlides/notesSlide13.xml" Id="R85232656183a44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ff571eb26441e" /><Relationship Type="http://schemas.openxmlformats.org/officeDocument/2006/relationships/image" Target="/ppt/media/image14.png" Id="Rbab2becc463e42eb" /><Relationship Type="http://schemas.openxmlformats.org/officeDocument/2006/relationships/notesSlide" Target="/ppt/notesSlides/notesSlide14.xml" Id="Rad6997f9124748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210ae91c6479d" /><Relationship Type="http://schemas.openxmlformats.org/officeDocument/2006/relationships/image" Target="/ppt/media/image15.png" Id="R1017d8c29dda42b8" /><Relationship Type="http://schemas.openxmlformats.org/officeDocument/2006/relationships/notesSlide" Target="/ppt/notesSlides/notesSlide15.xml" Id="R4739ed2c873f47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2b18ea41e49a0" /><Relationship Type="http://schemas.openxmlformats.org/officeDocument/2006/relationships/image" Target="/ppt/media/image16.png" Id="Rb1b6ad43470740c7" /><Relationship Type="http://schemas.openxmlformats.org/officeDocument/2006/relationships/notesSlide" Target="/ppt/notesSlides/notesSlide16.xml" Id="Rbf816c9641bc44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879193-526E-4191-A788-CB9A6F15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DA58D-0557-4DC4-990F-ABE33502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630a922b84793"/>
          <a:stretch xmlns:a="http://schemas.openxmlformats.org/drawingml/2006/main"/>
        </p:blipFill>
        <p:spPr>
          <a:xfrm xmlns:a="http://schemas.openxmlformats.org/drawingml/2006/main">
            <a:off x="1033871" y="742950"/>
            <a:ext cx="1418407" cy="1466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22927-CA91-4B34-972F-D8EBFE84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82033"/>
                </a:solidFill>
              </a:defRPr>
            </a:pPr>
            <a:r>
              <a:rPr sz="3900" b="1">
                <a:solidFill>
                  <a:srgbClr val="182033"/>
                </a:solidFill>
              </a:rPr>
              <a:t>Portal Administrativo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4A118-99F5-43D6-9CFE-41278D0E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676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184"/>
                </a:solidFill>
              </a:defRPr>
            </a:pPr>
            <a:r>
              <a:rPr sz="1800" b="0">
                <a:solidFill>
                  <a:srgbClr val="687184"/>
                </a:solidFill>
              </a:rPr>
              <a:t>Guia profissional do sistema, telas, fluxos operacionais e integracoes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001F5-8481-4CBB-A42A-ED881CA4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76300"/>
            <a:ext cx="3219450" cy="42100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E32EA-749E-4E0C-8540-EB51C0FB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33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ALC Pereira Filho &amp; Transportes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817D4-345D-4894-918B-B57E476F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6DBE6"/>
                </a:solidFill>
              </a:defRPr>
            </a:pPr>
            <a:r>
              <a:rPr sz="1425" b="0">
                <a:solidFill>
                  <a:srgbClr val="D6DBE6"/>
                </a:solidFill>
              </a:rPr>
              <a:t>Sistema centralizado para documentos, pagamentos, notas fiscais, usuarios e atendimento ao motorista.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C355B-C63C-4CFE-84E9-D38DBFBD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910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6C8"/>
                </a:solidFill>
              </a:defRPr>
            </a:pPr>
            <a:r>
              <a:rPr sz="1125" b="0">
                <a:solidFill>
                  <a:srgbClr val="AEB6C8"/>
                </a:solidFill>
              </a:rPr>
              <a:t>Versao documental gerada a partir do codigo do projeto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DFD65-F93F-4FC2-A73B-262D0BB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222FD-3518-41E6-8ED0-7C5B0AEC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9200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8452DB-BC88-46C6-8773-5803BF2E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1EB28-D8D3-417F-89CD-F58616B8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82d9c6b2348a5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995C7-696D-454F-8DA9-9A551AE8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VISAO GERAL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2843F-681B-4DC8-9086-6B4B643E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O portal organiza documentos e pagamentos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3C29B-1AA4-4159-ABCF-8A3D26C8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A aplicacao conecta envio de espelhos, validacao de notas fiscais, atualizacao de pagamentos e atendimento em um fluxo unico.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A0888-5B4A-4FFA-980F-8362BBF9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095625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9E839-6673-4C41-976C-96C0A120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676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B0000"/>
                </a:solidFill>
              </a:defRPr>
            </a:pPr>
            <a:r>
              <a:rPr sz="2250" b="1">
                <a:solidFill>
                  <a:srgbClr val="EB0000"/>
                </a:solidFill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A8A68-136E-4441-B340-F287651C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Modulos principais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A7B69-F5DB-49DD-A76F-1DFD63CF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Dashboard, PDFs, usuarios, periodos, financeiro e atendimento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F8FFA-5A4C-4018-9968-4E72F225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3095625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007DC-72F9-4D96-B4B1-3CF4F9BA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2676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B0000"/>
                </a:solidFill>
              </a:defRPr>
            </a:pPr>
            <a:r>
              <a:rPr sz="2250" b="1">
                <a:solidFill>
                  <a:srgbClr val="EB000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04F77-AFC9-476D-9A73-C5ABAC11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Portais conectados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FCBD0-F122-46A4-B38D-4BEA2C5F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Portal Administrativo e PDFOnline / motorista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74E66-5F88-4B29-AEB2-842EB059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3095625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F5CD8-E5DA-4279-A646-26AE5BD0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676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B0000"/>
                </a:solidFill>
              </a:defRPr>
            </a:pPr>
            <a:r>
              <a:rPr sz="2250" b="1">
                <a:solidFill>
                  <a:srgbClr val="EB0000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5E140-2369-45C6-9BA1-CCB825B5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1940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Fonte operacional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68DA3-47BF-4B0A-BA54-7B705556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67050"/>
            <a:ext cx="2676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Banco PostgreSQL com trilhas de auditoria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C2FA7-5F49-4428-A755-A1CA3B23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33"/>
                </a:solidFill>
              </a:defRPr>
            </a:pPr>
            <a:r>
              <a:rPr sz="1800" b="1">
                <a:solidFill>
                  <a:srgbClr val="182033"/>
                </a:solidFill>
              </a:rPr>
              <a:t>Mensagem-chave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64278-C781-4805-BF30-3830D610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O sistema separa claramente espelho de pagamento, nota fiscal e status financeiro, evitando mistura de documentos e mantendo rastreabilidade por periodo, base e motorista.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865244-4EAA-4ED6-A11E-88A9DCBB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3BFC9-F0A8-4B72-AA8F-8A661974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6570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64EA83-2F8F-4827-A639-E795169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A04F9-2D5B-4D4C-B586-48CBE079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c2d5747034786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BB94B-3732-43F6-BACA-E0671146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ARQUITETURA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52578-A350-4009-845C-4176DB8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A arquitetura separa interface, API, dados e integracoes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D8CC4-5FBF-4AF3-AD10-21946BAA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O frontend consome uma API autenticada; a API persiste em PostgreSQL, acessa storage de arquivos e conversa com o PDFOnline via webhooks.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317C7-E659-4854-8361-A1EAC94A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0B1CD-9167-4E04-BAA9-17ADBDC6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4FD3B-2DC0-428C-9F9D-900A6D1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127F6-3577-4A67-8934-CF39F5E7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Web React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F3FA9-AC4D-43F9-8733-DB4D2895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Interface administrativa com rotas protegidas, modo claro/escuro, formularios e tabelas.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5917A-B863-442C-8973-4CC7BE2C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E66A7-D322-48F4-B5E5-D6B1F13C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B5707-E433-4737-9DE0-72BEC47A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05D38-D6E0-42F7-8130-66B1E7C5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API Express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4F841-869A-46EE-AD42-A0324912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Camada de negocio, autenticacao, permissoes, validacao e auditoria.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CEE07-1613-4D66-9E4A-1E37ECFF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4CE5F-99C6-4B7C-9B78-B632CB91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53EC5-4C0B-4244-BF78-B1F8D63C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0F63B7-54A4-429C-8829-B34F6989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27AED-D2D2-4FDC-8B30-A5E03B1D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Usuarios, periodos, uploads, motoristas, notas, financeiro e historico.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E96A4F-A772-4F28-B687-E7BD6F39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8080C-9122-40A7-8B40-1713C80F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C1801-26EB-42DA-B328-A5AC0BC8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7200D6-495C-4003-B09B-89788914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Storage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0710F-9D41-40F1-88C8-3997D3A0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Arquivos PDF de espelho, nota fiscal e anexos de chamados.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2EEC40-8742-4C58-9241-A0A87A5B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5240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423BCA-B1BE-47A5-A820-BF6BB93F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D45A24-8A6C-4575-81ED-7174DAEC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A7D82C-32D1-412D-B1B7-3BE477BB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527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PDFOnline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B5FA10-68D3-4678-B277-7FC9201F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67050"/>
            <a:ext cx="1181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Recebe status financeiros e envia eventos de nota fiscal/visualizacao.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B5B199-1DDF-40A5-A87B-E3012D03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4266F3-F289-4019-8AC4-9931299D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9877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8A79A8-4761-44EF-92ED-D849882C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295D7-9530-466B-86C4-64271E23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10565c53c4a27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72D69-FD61-41A6-A23C-8377D5E1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ACESSO E PERFIL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B85B1-F16B-4624-8DC0-787BF041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O acesso e controlado por sessao, nivel e modulos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D915D-D192-40E8-B502-DF9A2DD0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Cada usuario entra por login, troca senha no primeiro acesso e recebe permissoes por modulo ou por nivel administrativo.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DD69A-BC63-4E56-B8BB-9D2F1312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0673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C9501-F635-4AF2-8277-1E3B6651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50673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E3EC7-209E-46C7-94E1-213FFA38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33"/>
                </a:solidFill>
              </a:defRPr>
            </a:pPr>
            <a:r>
              <a:rPr sz="1800" b="1">
                <a:solidFill>
                  <a:srgbClr val="182033"/>
                </a:solidFill>
              </a:rPr>
              <a:t>Opcoes da tela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5A5A8-2188-4C48-9FAC-2E2EBDF6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33"/>
                </a:solidFill>
              </a:defRPr>
            </a:pPr>
            <a:r>
              <a:rPr sz="1800" b="1">
                <a:solidFill>
                  <a:srgbClr val="182033"/>
                </a:solidFill>
              </a:rPr>
              <a:t>Controles tecnicos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61A1A-CC52-4EF2-B018-43E51837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4AAD6-2FA5-41E0-A5BF-D5930B66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Login com e-mail e senha.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36EDA-DBAA-447E-993A-5A5DCC19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9DDB7-E4E3-42F3-BC37-225FC7C0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Primeiro acesso com troca obrigatoria de senha.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58AC0-A525-4848-8EBA-DFBCC5DA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FF914-B418-44ED-A25A-D4FE2F96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Perfil com alteracao de foto, nome, senha e tema.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D7787-E4FD-4CCB-9CFF-9F9CC4D6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D82AC-5C96-4E71-9C9D-04C7C7C5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Sessao expirada redireciona para login.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C0E2C-F541-4887-BBA3-D828FCFA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FAEC4-8502-48D4-A88F-2848E0C2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JWT e sessao persistida com hash.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94FC3-2A6F-4F80-8B24-C3CC9D76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6F28A-7138-4013-8C0A-A78CBD0E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19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Niveis N1, N2, N3 e N4.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5A6D01-53ED-4E7A-A3A1-5F90EBC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249DB-8E62-4BFC-ABAD-9CEC116F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Permissoes por modulo e permissoes granulares.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36AF6-18F4-4BF2-B2B6-D4B96B98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6A31C-04AE-4171-96C9-DE583BC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Headers de seguranca e CORS configurado.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6B2CC8-3B91-46F6-BAFB-D9C5EEA0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0C5EB-1E6A-43AB-80C9-6D7DA346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12294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6B2F18-F2E6-489A-967C-8D93124A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572B3-FC8A-4224-B670-65BB11FA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e139faf5444bb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55BD0-1CD8-409A-811B-E7DB5AF6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01CF4-ED10-4EAB-BA10-22E21CEF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O dashboard mostra a saude operacional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D47A2-0781-422B-84C5-4047EC0F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A tela inicial reune indicadores, atalhos, resumo dos periodos de pagamento e atividades auditadas do sistema.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512CB-C88F-4FDE-A7BF-0D5B3505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000FF-E0F6-4B1F-BD29-A068B20A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523C9-DE7A-4CCC-95FD-A91576C7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Indicadores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43C38-2E1B-417D-8DCA-666FF895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PDFs enviados, usuarios ativos, pendencias e contadores operacionais.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D4F7C-3112-47E0-B17B-3039A233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12707-9527-4551-A29D-000C4AD6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C2A6D-B466-45A8-8D2D-83FC7196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Acesso rapido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7C691-80FF-4A0D-A756-FE441BA7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Atalhos configuraveis para envio de PDF, cadastro de usuario, periodos, financeiro e atendimento.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C88A0-C4A6-4568-A9FC-D3570042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B9BEE-31DE-4039-902B-FFDD7A08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6BCD2-D71E-419B-84DB-87EB790A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Resumo dos periodos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A3E0F-BFAB-4E4E-AB3F-35E1D50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Lista periodos recentes com PDFs enviados, notas fiscais recebidas e notas pendentes.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C069A-45A8-4E9E-97F1-6433CBCF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143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7B9F0-97C5-4E06-956B-F2126C04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B01E9-285A-4243-A737-F53CF013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Atividades recentes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BBFE3E-D295-4E49-850F-B727592C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Consulta logs de auditoria e atualiza a tela periodicamente enquanto o dashboard esta aberto.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C55384-46FA-482D-8301-10DC2A65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5143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E6D5E-CF91-485E-B933-D6E3EB36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94FFD-FE98-4344-87D9-EAE68EE7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719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Navegacao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9D75AB-6314-4518-B07D-4B9DE6F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A sidebar fixa da acesso aos modulos e respeita permissoes do usuario logado.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6542E3-1366-4F16-9F59-AFBC5A61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9F38EC-ED85-4017-97B5-E2C43804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3987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6A0937-C629-40D2-B9AD-0D8EA1F8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93543-BA07-4883-A35D-282FC744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6bf8568114cef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17553-EF47-4F39-A4B8-51F401B1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ENVIO DE PDFS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584A5-76D2-4A35-BED4-4DBB36F0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Envio de PDFs e para espelhos de pagamento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8F777-4C05-481F-879F-4D80F9C5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A fila operacional mantem os espelhos enviados por periodo e base; notas fiscais anexadas pelo motorista seguem outro fluxo.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FB6AA-3726-40AF-9D67-0B3B2056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0673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73F36-077F-4FA4-8D9B-3566A7A5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50673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533F9-0655-43EE-A934-D0BFD5FD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33"/>
                </a:solidFill>
              </a:defRPr>
            </a:pPr>
            <a:r>
              <a:rPr sz="1800" b="1">
                <a:solidFill>
                  <a:srgbClr val="182033"/>
                </a:solidFill>
              </a:rPr>
              <a:t>Opcoes principais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D7EF3-660B-465E-96FE-AFA6479B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33"/>
                </a:solidFill>
              </a:defRPr>
            </a:pPr>
            <a:r>
              <a:rPr sz="1800" b="1">
                <a:solidFill>
                  <a:srgbClr val="182033"/>
                </a:solidFill>
              </a:rPr>
              <a:t>Regras do sistema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11F76-7E74-46F8-86A5-98B1EB02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1C7D4-89AE-4A1B-A11F-1AA52811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Selecionar periodo ativo e base de pagamento.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B18A2-EDA1-482E-8D16-2F9661A7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E95FB-A01A-4C05-A068-C3177B48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Enviar multiplos PDFs em lote.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78D49-E309-46B0-A085-B6B54ECF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039D3-D2DF-43EB-BEBD-2C3AE651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Acompanhar fila de documentos por lote/base.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3B4F4-74CE-4B2A-A054-5A37F375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9B0AF-FC71-45CB-BF98-31D1CD44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Baixar, ver historico, substituir ou remover espelho.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87625-CE9C-4CD1-91DA-67B2F000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AB2DC-F6BB-4257-9136-DB8DD019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O upload e gravado como document_type = espelho.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77B3A-5F59-42B9-9955-3E214D4D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BC48C-A189-4E8B-9904-A009BA66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19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Motorista e resolvido pelo pre-cadastro/registro.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8A2E8-D1C0-44A5-B162-A246C8FE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0A0D13-60F6-46D4-B4DF-ED4E84DF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Sem pre-cadastro, o arquivo fica aguardando vinculo seguro.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584F0F-001D-4B9C-BDF7-0C029CC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EB489-5200-4FCE-9F56-534FE46B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Substituicao preserva historico de versoes.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B66DA8-78E3-4B4F-A817-AB935086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B15C6-2D33-4796-8025-4D6E162A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5536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11A2B9-1DEA-4C4A-BB1F-BC06E726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79868-A2ED-411E-A312-8512300E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9ca0b2d994d50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688D9-B423-4A27-8AAD-95FEA2A9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PERIODOS E BASES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F0BBE-E57B-479E-B335-07F00469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Periodos definem a janela oficial do processo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779AD-72FA-4CFD-8287-7F7EA5EC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A administracao cadastra periodos, vincula bases e controla quais lotes estao disponiveis ou processados.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EC25C-D2FF-45D4-8182-29B6E7FE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F1B2E-8769-4627-8D37-C7A4DCBE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7E294-378B-4AA7-BA5A-829FFC45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Criar periodo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92E68-3485-4FDF-A5D9-A868657A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Nome, data inicial, data final e tipo: semanal, quinzenal ou mensal.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B1E22-46D2-4F74-AAD3-C41F3C6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3CCF3-C35F-472F-8FEC-3F4A35F6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6EACE-26C9-4F26-868D-B4E1424A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Gerenciar bases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B2C9C-A9F7-4DD0-9129-30A9BBDD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Cadastro, edicao, status ativo e tipo padrao de pagamento por 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14CDB-87DF-46CD-B4E2-3531D68D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94090-FB2D-4A40-9FC7-ECEF56D5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1C990-D162-4F09-B669-2B559DD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Periodos cadastrados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9332F-F0B3-4923-A1AA-278AED69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Visualizacao de ativos/finalizados, PDFs por base e acoes administrativas.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B47F3-75CA-4EDF-805F-D78CAAC3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6953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F32E4-3380-400B-9036-B5B72EC8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481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AF6E5-7AB5-4E6D-BCB4-BFB24646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29100"/>
            <a:ext cx="634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Fila de revisao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9AF4A-81EB-4BE3-A8E0-6D002F61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33900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Motoristas duplicados ou divergencia de base podem ser analisados antes de consolidar o processo.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1F256-8EB4-4A49-ACEE-ACA5E25D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E8E35-569B-4BA8-93FD-2106978D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200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C1DDE-5454-4347-8640-5934E967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AA641-DB07-485B-A364-F5A86C72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9e5f7445b4048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83C4D-3467-40AE-80D5-DB3324A0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FINANCEIRO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A39C6-5767-44C4-828F-BDEAEEF8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Financeiro separa notas, aptos a pagar e baixa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44ACD-8B8A-4214-97D8-8658FFEF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A tela foi organizada em tres abas para separar exportacao documental, pagamento e baixa financeira.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D5B7F-2095-41F1-ABD0-581444E5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8F8EA-9E2B-4C8B-B3DA-6D0F0F10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059A8-FF4B-4339-9CA4-99425485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Notas Fiscais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89660-156F-48D2-A06C-71BD055C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Seleciona periodo/base, acompanha motoristas, abre espelho, abre NF e exporta notas fiscais do periodo.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28D55-9A42-4A70-8654-19F2483D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12482-F038-41C8-BA6F-093428AC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19014-3884-4087-A5A8-48C14634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A pagar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CC848-7978-4DAD-AD25-A9635195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Consulta motoristas aptos: espelho aprovado, NF enviada/aprovada e pagamento ainda pendente.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1A6DD-5156-4A2B-B653-2B164475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2359C-B0E3-46B1-B214-6EDA7A63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4BF88-AA2D-4F4C-A530-A8FB7FC2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Atualizar Pagamentos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7FF84-F107-4573-93C4-59ACADF2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Importa Excel da aba Resumido, le status na coluna M e atualiza pagamentos com previa e confirmacao.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C69BE-22C8-4FE2-8746-AB946A31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B0000"/>
                </a:solidFill>
              </a:defRPr>
            </a:pPr>
            <a:r>
              <a:rPr sz="1950" b="1">
                <a:solidFill>
                  <a:srgbClr val="EB0000"/>
                </a:solidFill>
              </a:rPr>
              <a:t>Separacao essencial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C53D7-6930-457B-842E-7E46AD6C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Espelho de pagamento e o PDF enviado pelo administrativo. Nota fiscal e o PDF anexado pelo motorista/PDFOnline. Status de pagamento e financeiro e pertence ao pagamento do motorista.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F769D-4B81-410E-9202-D46831B0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6F28E-C765-4EE9-B953-B6BDDBB6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10346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6B3CD-CCBF-4D70-9CFC-DBAF59D0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2DEBE-1343-48EB-AB0E-DC9EC50B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519c018ff48ee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89E14-F2DB-4A3F-A0FD-C636D267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NOTAS FISCAIS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AC335-585A-417B-8B3B-5B4C6D47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Notas Fiscais acompanha o processo por motorista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032C2-EA7E-4B29-AE05-32FB8A08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Ela cruza periodo, base, espelho, visualizacao pelo motorista, nota fiscal recebida e situacao do atendimento.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F3FE0-7508-481F-B1AF-677A9DC6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0673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E55B7-2CF7-4C74-9F82-4C5EE5B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50673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E2652-8CBE-4EC8-B8B5-AE6450CC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33"/>
                </a:solidFill>
              </a:defRPr>
            </a:pPr>
            <a:r>
              <a:rPr sz="1800" b="1">
                <a:solidFill>
                  <a:srgbClr val="182033"/>
                </a:solidFill>
              </a:rPr>
              <a:t>Visualizacao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51F60-0EC0-4840-AEAF-5E27B647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33"/>
                </a:solidFill>
              </a:defRPr>
            </a:pPr>
            <a:r>
              <a:rPr sz="1800" b="1">
                <a:solidFill>
                  <a:srgbClr val="182033"/>
                </a:solidFill>
              </a:rPr>
              <a:t>Acoes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63817-C220-4BB2-8FB8-D0846FE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ACE71-809A-4FF5-8A72-0CBFE250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Cartoes de periodos de pagamento.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5F887-A367-4F51-B2F8-EBA8FDCD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FC4E6-46F5-4B2A-8F62-FFB9A0C2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Resumo por base selecionada.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B2AF1-4887-4DA6-8629-4AAE7B7D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1DFA3-7026-495C-8A62-98F5C576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Tabela de motoristas do periodo.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46EDC-6648-4B45-9B52-B07A7290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5BAD6-6776-41A8-AAF6-2A31535F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Filtros por nome, CPF, status e atendimento.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2F675-F983-461B-B688-22791E50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C239C-394B-4AD1-BC4C-B602114B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Abrir detalhes do motorista.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436F7-648C-47A4-A940-334BF12D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B9B746-24F5-4570-941E-88BBD36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19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Visualizar Nota Fiscal anexada pelo motorista.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EB1D0-217F-4E11-992A-23067580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BA7B2-ECF1-4DA1-B3E6-D7F13F06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Abrir PDF do espelho de pagamento.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3E49B-F497-4404-9E0D-BA8AB0AC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ADA0A-88CF-430A-A284-2456CD73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Exportar notas fiscais vinculadas ao periodo.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641EA3-5CE5-4F75-AF20-D4AFB107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67864C-AC58-4A4A-AE07-6567A108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61979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A67953-7F7F-4387-9B1E-0F9F78C0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314F4-8733-46A6-A72E-674CF5D2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197a35c2c49d7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C7198-18DF-49B6-801C-04908068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A PAGAR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9B2B2-2DD4-4D89-80A0-3FF38FC5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A pagar gera a planilha dos liberados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C57BF-FF86-4597-BEF7-34855026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O sistema exporta apenas quem concluiu o fluxo ate a validacao da nota fiscal e ainda nao esta pago ou bloqueado.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C3CFD-41D7-44B7-AF16-5BE427D9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6083E-1171-485A-96B4-9D104F33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18DF7-6F15-495C-B456-09ED05B6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0F28F-D6C2-4103-9F0A-8D7FE85C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Espelho enviado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CA5AC-8994-437D-81A8-5EA89860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O arquivo esta disponivel para o motorista no periodo/base corretos.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42B1D-41CD-464D-8F73-DBC9FEBE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A83E6-EBC9-44EA-A0AA-B59ED812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3859B-0340-4071-8A34-7F0FC34F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E7131-6FDE-4CB8-B58E-3321748C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Motorista aprovou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AA6F7-871E-41F4-B32D-254F5BA4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O espelho foi visualizado/aprovado e o processo avancou.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D6BC4-F428-429E-AB13-7D3B504D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0A2BF-115F-4429-83F3-2540416A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4AB39-29E8-4B46-9897-E0BF6DF4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3F50C-FA10-48EA-B475-7C5DEBB4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NF validada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2A15B-DD3E-4758-BB3B-7314CC02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A nota fiscal foi recebida e aprovada/concluida no backend.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58DAB-72F0-489C-B608-584BD75E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1D38F-BB0F-4FEE-8A50-F5BDDBD7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2F76C-FDE3-4A7D-BCC9-8EDBC133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66A23-8D52-45E2-9F03-837462C0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Pagamento pendente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D0B45-7F63-4EF6-AC92-49A2D8C6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O status financeiro ainda nao e PAGO, BLOQUEADO ou tentativa falha.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53E25A-6AC3-4FBD-8AF1-3F423529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BA92A-994B-401F-83FE-314D100D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661083-F5A8-433A-B3BD-47F4B82F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B4D276-DB22-40A5-B812-CE9D85B4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Excel gerado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66D189-B713-4510-AE4B-3BFE2051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Colunas: motorista, favorecido, CPF, valor total do PDF e base.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DFE2EE-2B05-4D0C-BFC7-EDCDB750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033"/>
                </a:solidFill>
              </a:defRPr>
            </a:pPr>
            <a:r>
              <a:rPr sz="1650" b="1">
                <a:solidFill>
                  <a:srgbClr val="182033"/>
                </a:solidFill>
              </a:rPr>
              <a:t>Quando ha dados obrigatorios ausentes, o registro vai para inconsistencias em vez de ser exportado silenciosamente.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B102D6-216D-432C-87DC-EAF80AF0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445E5E-D517-4F88-80F9-F417DD40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50434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C862D1-5D94-40DF-B02C-836B6DC7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609DD-2814-4380-B592-49629531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1c912d01a4704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A9A62-6455-4F17-8B43-300BEFF7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ATUALIZAR PAGAMENTOS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71713-8DFF-4B38-B760-38DE29D5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Atualizar Pagamentos usa previa e auditoria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BA45A-BBA7-49D4-B1D4-EA124972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O arquivo Excel usa somente a aba Resumido; a coluna M define o status operacional do pagamento.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BEA58-7AB6-47E4-A109-A2A4609C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0673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E60B0-AD48-44BE-9913-20096F83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50673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485E8-B385-444D-A16F-3982B569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33"/>
                </a:solidFill>
              </a:defRPr>
            </a:pPr>
            <a:r>
              <a:rPr sz="1800" b="1">
                <a:solidFill>
                  <a:srgbClr val="182033"/>
                </a:solidFill>
              </a:rPr>
              <a:t>Status aceitos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0CB23-9502-4BB1-AC92-075E865D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33"/>
                </a:solidFill>
              </a:defRPr>
            </a:pPr>
            <a:r>
              <a:rPr sz="1800" b="1">
                <a:solidFill>
                  <a:srgbClr val="182033"/>
                </a:solidFill>
              </a:rPr>
              <a:t>Etapas da importacao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D7754-A5F0-413B-93B9-CF697D59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A9F2F-EE32-441E-8366-FC5028F5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PAGO: pagamento concluido.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E34BA-EE6C-423D-8190-11322D36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A8495-365D-4727-BBB1-B1F64C40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PENDENTE: pagamento ainda nao finalizado.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A07A0-4F76-44F0-B11D-EEDA3D59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994BC-D934-4565-8A4D-664A10BA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BLOQUEADO: pagamento bloqueado.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92C60-A1B8-4237-9C42-B883AC0E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16477-CEC3-411F-BA61-9E36E4DD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NOTA FISCAL PENDENTE: mantem pendencia.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0D870-6D29-41AF-A52B-DB3FF276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EE090-FDA1-42B7-BAE0-235D7F21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Gerar pre-visualizacao sem alterar o banco.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43C2F-80F1-40B4-8C12-905AC370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D9D0C-17B4-4F17-A450-BBB60B51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19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Validar correspondencia por CPF/periodo ou nome/valor.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75CB4-CC2D-451C-AA04-68E53CF0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45CFE-B8A8-41AF-B06F-429F9782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Confirmar apenas linhas validas.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B0148A-BACA-4515-8980-D4DC77A1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13391B-2532-4D95-9D84-24C89925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Registrar historico e preparar webhook para PDFOnline.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5C73B1-B3E6-4F3B-953A-E0BCAB01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3B8BB-6FCA-4FF0-97A1-BFF9CC2E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24265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30599-F4D8-4698-9CC0-81BE3DB1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B1743-66F8-4517-B371-C4DB78EB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33acf04574557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40278-2DC7-48FE-9E00-4DC2EDEF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ATENDIMENTO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95A28-4974-4CEF-B32F-A8141E08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O CRM concentra historico, pagamentos e chamados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AECA9-60DC-4F9B-A783-A0324E57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A equipe localiza o motorista por nome ou CPF e acompanha toda a jornada em uma unica tela.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3A645-928C-48EC-8C90-49502DE2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D0547-1F1A-4C74-8064-571ABE6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96F2F-6E17-47E8-AB4A-E332A8CF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Dados do motorista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F2506-25F1-4120-9CBA-502DC86B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Cadastro, contatos, endereco, empresa vinculada, observacoes e status.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6177F-5103-460A-8626-4498E356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78E5B-E509-49B6-8878-0F7C03CB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E4B45-2431-4A99-A583-9708BD64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Historicos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20B22-5A17-4F0C-A3BE-A4668FBA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PDFs, pagamentos, notas internas, atendimentos, timeline e logs.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09D2F-9ED1-4A76-8BBD-C15F9996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BAED6-54AE-4424-A4AB-7A4D7CBE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41FBC-2A22-45E6-A866-40729FF3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Chamados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96A25-8AB5-4723-907E-E2668AD3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Abertura, movimentacoes, anexos, prioridade, responsavel e encerramento.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9ADA5-54EB-4FDE-9EB7-35B2FEAE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6953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65AFA-3929-41C7-B820-FA2DDCC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481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B50F8-077C-4FED-A5C1-746AA86F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29100"/>
            <a:ext cx="634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Classificacoes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26933-0873-4B52-AC60-FB31449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33900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84"/>
                </a:solidFill>
              </a:defRPr>
            </a:pPr>
            <a:r>
              <a:rPr sz="1050" b="0">
                <a:solidFill>
                  <a:srgbClr val="687184"/>
                </a:solidFill>
              </a:rPr>
              <a:t>Marcacoes administrativas para segmentar motoristas e apoiar a operacao.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977C6-D759-4526-85CD-FC060A7D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79BBE-9EBD-4B81-BCE7-200D4115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348413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8B369-339C-4832-BDEF-320C50E7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992D2-ABD7-4888-A2AE-A4C828D3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97decb5f742a1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AD09B-2A65-4F48-88B5-B2506F68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INTEGRACOES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D4A2E-E447-40B9-86DE-80A1914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PDFOnline e Portal trocam eventos do processo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41B9A-BB70-4A69-ACA5-AFF022AF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O portal administrativo recebe movimentacoes do motorista e devolve status financeiro para manter os dois lados sincronizados.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FEB37-6FAA-4F73-90EB-63CCAB66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8DA10-089F-47BB-B3DF-55585E1F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F9479-7B19-4491-9432-C86826D5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90481-D15D-42AD-B9BF-4187CB45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Admin envia espelho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25552-93CD-4503-AFD5-6AC83F1B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Upload do espelho no Portal Administrativo, vinculado ao periodo e 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10CAE-5942-4B30-9AC5-6979D8C6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B6016-2ED8-40E9-9EA8-D2BB5972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1053C-84B2-4181-A91A-95F6DA28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3718A-C3FA-49C7-8FEF-2F6E3F81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Motorista atua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825CB-29F0-4E92-8530-52D7DC37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PDFOnline registra visualizacao, aprovacao e anexacao da nota fiscal.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D5164-1B2F-4EB4-9F0F-D502687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7DD01-579D-482A-B11E-6386CE52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461E1-C3FF-458E-8BB4-F9CF79A5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D486B-292E-4B8F-82DA-2915E1C6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Admin valida NF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AEC34-7A62-4B7C-BDDE-D29854F0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Financeiro acompanha status e separa espelho de nota fiscal.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029E0-FF2B-48FB-899B-1D1BB385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2000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31A0F-A440-4733-B53C-84C46BCF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1C7D8-32BB-4B07-9BF7-FB918204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EE186C-8AF6-44F5-9992-EBC1523D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Planilha paga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4F61D7-88DE-445D-9236-5C63AB6F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670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Importacao financeira muda status para PAGO, PENDENTE ou BLOQUEADO.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56399-4B1B-4F38-854D-FFC50D5A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5240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A42B64-C535-4EF5-91AA-DC4C1C79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1F8EA3-992A-4F8D-B9B5-7A431A07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A34C68-C84D-485F-8650-E99DBD3C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527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Webhook retorna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E0725-BFA7-4855-8F3B-B58A8EAC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67050"/>
            <a:ext cx="1181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Outbox envia pagamento.status_atualizado para o PDFOnline.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512827-7950-4AC7-A2A4-372A7C59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5E88A2-CB58-43F0-B35A-48294990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01964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3C0B57-A94C-4419-9D51-14785D6D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5F28E-F2FA-4E54-A740-B6600A38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2becc463e42eb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96E94-3158-4CC8-AECE-E3E75E5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DADOS E AUDITORIA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6CE30-51CB-4C7C-819D-9DDA0755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A rastreabilidade fica no banco, storage e logs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F8384-5774-43F5-9132-C9B5319E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As principais entidades dao suporte a consulta, historico, recuperacao de arquivo e auditoria operacional.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D27E5-EAE3-48CF-ACBD-AD0143ED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0673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5CA64-651A-43D7-A023-6C232D7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50673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FF4D8-D993-46E9-91A4-5E0B31C0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33"/>
                </a:solidFill>
              </a:defRPr>
            </a:pPr>
            <a:r>
              <a:rPr sz="1800" b="1">
                <a:solidFill>
                  <a:srgbClr val="182033"/>
                </a:solidFill>
              </a:rPr>
              <a:t>Tabelas centrais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364F3-D56E-4A20-BAF6-695FB4FB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33"/>
                </a:solidFill>
              </a:defRPr>
            </a:pPr>
            <a:r>
              <a:rPr sz="1800" b="1">
                <a:solidFill>
                  <a:srgbClr val="182033"/>
                </a:solidFill>
              </a:rPr>
              <a:t>Controles de qualidade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1FF54-B1E7-4E5F-B098-227521BE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9DD45-B129-4E3E-A6F6-78906B20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usuarios, niveis, modulos e permissoes.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F3A97-2AF4-41DA-87FD-AFE21A28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7D80D-CBDD-476E-9B35-A040A8C0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periodos_pagamento, bases_pagamento e uploads_pdf.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2F373-A77E-47CF-B4CB-C43858D0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50859-4F4D-40C8-AF6F-B22926FA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driver_pdf_received para espelhos, notas e status do motorista.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2CB6D-A968-4881-A4F8-DBD4CD63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37838-0CC3-4859-88CA-4E5DA09F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importacoes_financeiras, historico_status_pagamento e webhook_eventos.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2BF20-F753-4422-9974-409698D4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A582F-6EDA-4A0B-9BD2-186664D0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Document type separa espelho e nota fiscal.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D29ED-3999-4BD8-9312-A4BD068D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86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7A74B-F910-4A96-A4F2-2E66CE32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195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Historico preserva substituicoes e alteracoes financeiras.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67B57-9CC7-4F54-B32C-C1391E38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7F95C-73E6-482D-8490-B7F09094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Logs de auditoria alimentam atividades recentes.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9C7085-9CC9-4D6B-8D99-BFBA00C2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38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6A1BFC-7B51-4068-BF69-4E961C2B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33"/>
                </a:solidFill>
              </a:defRPr>
            </a:pPr>
            <a:r>
              <a:rPr sz="1275" b="0">
                <a:solidFill>
                  <a:srgbClr val="182033"/>
                </a:solidFill>
              </a:rPr>
              <a:t>Storage guarda PDFs e anexos fora do banco.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7C0FCC-B657-4DD0-BCE4-400D40F1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E9A973-085B-4B53-AB81-CE795AB0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199659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99435-D5F8-4334-A8D3-17171CB2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71DA7-84A3-4652-A73F-E4890844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7d8c29dda42b8"/>
          <a:stretch xmlns:a="http://schemas.openxmlformats.org/drawingml/2006/main"/>
        </p:blipFill>
        <p:spPr>
          <a:xfrm xmlns:a="http://schemas.openxmlformats.org/drawingml/2006/main">
            <a:off x="10339570" y="400050"/>
            <a:ext cx="847360" cy="87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923C6-679C-48CF-9B57-ECAA41B6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0000"/>
                </a:solidFill>
              </a:defRPr>
            </a:pPr>
            <a:r>
              <a:rPr sz="1050" b="1">
                <a:solidFill>
                  <a:srgbClr val="EB0000"/>
                </a:solidFill>
              </a:rPr>
              <a:t>FLUXO PONTA A PONTA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B7BF6-34B6-45F6-84E6-1B798182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33"/>
                </a:solidFill>
              </a:defRPr>
            </a:pPr>
            <a:r>
              <a:rPr sz="2700" b="1">
                <a:solidFill>
                  <a:srgbClr val="182033"/>
                </a:solidFill>
              </a:rPr>
              <a:t>Do espelho ao pagamento, cada etapa tem dono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C3DC0-B758-46D4-81F2-62BF07CE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84"/>
                </a:solidFill>
              </a:defRPr>
            </a:pPr>
            <a:r>
              <a:rPr sz="1275" b="0">
                <a:solidFill>
                  <a:srgbClr val="687184"/>
                </a:solidFill>
              </a:rPr>
              <a:t>O desenho operacional reduz divergencias porque cada documento e cada status tem funcao propria.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A966B-D124-4FD2-B877-D3DBB937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619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0FD7E-DB7D-41C5-9FA9-89A4B5A0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8EFF0-1766-4D13-AC70-20A16E03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9C3E3-22BE-4DC4-9F30-79CBF813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527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Criar periodo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CE1E4-10BF-479E-9486-14A323F4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Admin define janela e bases.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0D8BE-E0EE-44B8-9723-7A3E57F5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619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2F298-9E24-4CCE-A5F2-282CDF0E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864C0-1F0A-479E-9A69-38A2D68D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56664-BF16-4F89-A57D-B6F5CE73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Enviar espelho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B2C77-BBE6-49C9-A5A8-01CFF1FC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6705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Admin sobe PDFs em lote.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B3315-5E06-46D3-806E-5239F1B0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1619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EB90C-0D10-4C06-A9A5-A9B86D4B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E0AC9-E18F-406B-9431-3244684D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CE064-EE24-41A6-A849-3B6CD087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527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Motorista aprova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C9E40-58D6-4F1F-ACDF-DB681E8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6705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PDFOnline registra visualizacao.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16865-439D-4C76-B2EF-B79CCD4B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1619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64A95-B0B5-49A4-8ABE-A7748F75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8AEEE-E452-46B7-9727-AA49D5C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F4438-3562-4179-89F4-16D8F57E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Motorista anexa NF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8A1A14-3636-4C15-B1B0-BCD2B1A4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Nota entra na tela financeira.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C60A3F-5609-418B-99A5-8C28250A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1619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36F4E-E05C-4C45-BD2B-B94344C8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54D230-F39F-4189-A0B5-0CF31DBA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97326C-D895-44F8-B2E1-3EF23106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Financeiro paga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C78807-11D4-4600-8DDB-47AA82CF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Excel atualiza status.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1984F3-F843-49E9-BE1F-F30E37CC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81250"/>
            <a:ext cx="1428750" cy="14668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9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6091E7-5363-41BA-8772-FCACD471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527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B4F635-93F7-4370-87BE-44E00345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EBED42-F6E9-4E30-9547-27CB60BF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5527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33"/>
                </a:solidFill>
              </a:defRPr>
            </a:pPr>
            <a:r>
              <a:rPr sz="1275" b="1">
                <a:solidFill>
                  <a:srgbClr val="182033"/>
                </a:solidFill>
              </a:rPr>
              <a:t>Webhook sincroniza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19272B-19EA-422A-B0A6-1883662D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67050"/>
            <a:ext cx="1085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184"/>
                </a:solidFill>
              </a:defRPr>
            </a:pPr>
            <a:r>
              <a:rPr sz="975" b="0">
                <a:solidFill>
                  <a:srgbClr val="687184"/>
                </a:solidFill>
              </a:rPr>
              <a:t>PDFOnline recebe resultado.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8815E1-0965-4738-A602-BB16FB83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B0000"/>
                </a:solidFill>
              </a:defRPr>
            </a:pPr>
            <a:r>
              <a:rPr sz="1950" b="1">
                <a:solidFill>
                  <a:srgbClr val="EB0000"/>
                </a:solidFill>
              </a:rPr>
              <a:t>Resultado esperado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EA5E92-C1C2-49B7-8FF0-F10C2E5F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A operacao sabe quem recebeu espelho, quem enviou nota, quem esta apto a pagar, quem ja foi pago e quais pendencias precisam de atendimento.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BCDCAA-B9E9-4236-8380-A5FD7C8B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184"/>
                </a:solidFill>
              </a:defRPr>
            </a:pPr>
            <a:r>
              <a:rPr sz="900" b="0">
                <a:solidFill>
                  <a:srgbClr val="687184"/>
                </a:solidFill>
              </a:rPr>
              <a:t>Portal Administrativo ALC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C16EA1-3E1A-4BA8-A84C-0391A254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84"/>
                </a:solidFill>
              </a:defRPr>
            </a:pPr>
            <a:r>
              <a:rPr sz="1050" b="1">
                <a:solidFill>
                  <a:srgbClr val="687184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486033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45406-FF07-4B14-B793-B1A72571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57DD5-2012-4ACA-B441-12A39159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6002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6ad43470740c7"/>
          <a:stretch xmlns:a="http://schemas.openxmlformats.org/drawingml/2006/main"/>
        </p:blipFill>
        <p:spPr>
          <a:xfrm xmlns:a="http://schemas.openxmlformats.org/drawingml/2006/main">
            <a:off x="968857" y="685800"/>
            <a:ext cx="957885" cy="990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20F63-515B-455A-ACD3-D371CE28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Sistema pronto para operacao assistida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A3A44-5306-44C8-A20F-7A268CDA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BE6"/>
                </a:solidFill>
              </a:defRPr>
            </a:pPr>
            <a:r>
              <a:rPr sz="1650" b="0">
                <a:solidFill>
                  <a:srgbClr val="D6DBE6"/>
                </a:solidFill>
              </a:rPr>
              <a:t>Use o portal como fonte unica para periodos, espelhos, notas fiscais, pagamentos e atendimento. Cada documento e cada status tem uma funcao clara.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D5D42-0755-4A7A-9700-573C5AA4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02895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A9981-736D-4EF0-AE6F-95BAAE7D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Proximos usos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46CD5-F600-406E-8DFA-9C328A19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19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F7315-24DB-4F2A-B222-C7279A6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FAFB"/>
                </a:solidFill>
              </a:defRPr>
            </a:pPr>
            <a:r>
              <a:rPr sz="1350" b="1">
                <a:solidFill>
                  <a:srgbClr val="F9FAFB"/>
                </a:solidFill>
              </a:rPr>
              <a:t>Treinamento da equipe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216B5-578B-4B9A-8D8E-7B05D150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71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F415A-3B30-4161-91A4-1F088F4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5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FAFB"/>
                </a:solidFill>
              </a:defRPr>
            </a:pPr>
            <a:r>
              <a:rPr sz="1350" b="1">
                <a:solidFill>
                  <a:srgbClr val="F9FAFB"/>
                </a:solidFill>
              </a:rPr>
              <a:t>Onboarding de usuarios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80DB0-602A-429C-BADA-B8BBFBB5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24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0000"/>
          </a:solidFill>
          <a:ln xmlns:a="http://schemas.openxmlformats.org/drawingml/2006/main" w="9525">
            <a:solidFill>
              <a:srgbClr val="EB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9123D-B1E2-474E-9498-987DCB87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57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9FAFB"/>
                </a:solidFill>
              </a:defRPr>
            </a:pPr>
            <a:r>
              <a:rPr sz="1350" b="1">
                <a:solidFill>
                  <a:srgbClr val="F9FAFB"/>
                </a:solidFill>
              </a:rPr>
              <a:t>Documentacao financeira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A5673-CDE1-443C-98BC-94B1AD13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CA3AF"/>
                </a:solidFill>
              </a:defRPr>
            </a:pPr>
            <a:r>
              <a:rPr sz="1050" b="1">
                <a:solidFill>
                  <a:srgbClr val="9CA3AF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25253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2026-07-15T12:38:41.5330000Z</dcterms:created>
  <dcterms:modified xsi:type="dcterms:W3CDTF">2026-07-15T12:38:41.5330000Z</dcterms:modified>
</coreProperties>
</file>