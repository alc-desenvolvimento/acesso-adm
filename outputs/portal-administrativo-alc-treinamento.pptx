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92FF8CB-880F-4E9B-9FA2-B9E2F0416F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CCB2448-D28F-4961-9E3A-5D5324459775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5486400" cy="6858000"/>
          </a:xfrm>
          <a:prstGeom prst="roundRect">
            <a:avLst>
              <a:gd name="adj" fmla="val 2778"/>
            </a:avLst>
          </a:prstGeom>
          <a:solidFill>
            <a:srgbClr val="0B0F1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18B3E6D-3875-4596-A5A8-51B0B753565A}"/>
              </a:ext>
            </a:extLst>
          </p:cNvPr>
          <p:cNvSpPr>
            <a:spLocks noGrp="1"/>
          </p:cNvSpPr>
          <p:nvPr/>
        </p:nvSpPr>
        <p:spPr>
          <a:xfrm>
            <a:off x="7067550" y="723900"/>
            <a:ext cx="4095750" cy="5334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F0F2F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9279" y="1123950"/>
            <a:ext cx="1934192" cy="20002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C12A25E-81B5-49CB-901D-8834AACD6BF1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4857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Portal</a:t>
            </a:r>
          </a:p>
          <a:p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Administrativo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8B77031-D398-4DB4-8899-1EF3BF7F1C70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704850" cy="47625"/>
          </a:xfrm>
          <a:prstGeom prst="roundRect">
            <a:avLst>
              <a:gd name="adj" fmla="val 50000"/>
            </a:avLst>
          </a:prstGeom>
          <a:solidFill>
            <a:srgbClr val="EB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41C986-ECFF-45A6-AC93-FBEA82A4C342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5048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647084"/>
                </a:solidFill>
              </a:defRPr>
            </a:pPr>
            <a:r>
              <a:rPr sz="1800" b="0">
                <a:solidFill>
                  <a:srgbClr val="647084"/>
                </a:solidFill>
              </a:rPr>
              <a:t>Apresentação das ferramentas e treinamento completo do ciclo operacional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2E19B6-22CB-4D24-A57F-3DEF880A151E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B0000"/>
                </a:solidFill>
              </a:defRPr>
            </a:pPr>
            <a:r>
              <a:rPr sz="1650" b="1">
                <a:solidFill>
                  <a:srgbClr val="EB0000"/>
                </a:solidFill>
              </a:rPr>
              <a:t>Documentos • Períodos • Financeiro • Atendimento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CD80A3C-BA6B-46E1-B52D-936CD602F8F9}"/>
              </a:ext>
            </a:extLst>
          </p:cNvPr>
          <p:cNvSpPr>
            <a:spLocks noGrp="1"/>
          </p:cNvSpPr>
          <p:nvPr/>
        </p:nvSpPr>
        <p:spPr>
          <a:xfrm>
            <a:off x="7886700" y="3695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Guia de uso interno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C6BFF0-F784-4BA8-91EA-FCA72EBF7317}"/>
              </a:ext>
            </a:extLst>
          </p:cNvPr>
          <p:cNvSpPr>
            <a:spLocks noGrp="1"/>
          </p:cNvSpPr>
          <p:nvPr/>
        </p:nvSpPr>
        <p:spPr>
          <a:xfrm>
            <a:off x="7886700" y="4095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47084"/>
                </a:solidFill>
              </a:defRPr>
            </a:pPr>
            <a:r>
              <a:rPr sz="1350" b="0">
                <a:solidFill>
                  <a:srgbClr val="647084"/>
                </a:solidFill>
              </a:rPr>
              <a:t>Versão de treinamento</a:t>
            </a:r>
          </a:p>
        </p:txBody>
      </p:sp>
    </p:spTree>
    <p:extLst>
      <p:ext uri="{BB962C8B-B14F-4D97-AF65-F5344CB8AC3E}">
        <p14:creationId xmlns:p14="http://schemas.microsoft.com/office/powerpoint/2010/main" val="228710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E3D1FFB-5782-4F75-B6CF-317A4BAAC1A6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401893-FA2D-400E-8F7E-E850649A22C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 portal centraliza o ciclo de documentos e pagamentos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2F4CB1-8127-4107-BB63-30AC171A287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operação sai de controles dispersos para um fluxo auditável: espelho, aprovação, nota fiscal, pagamento e atendimento.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C1CF78E-352E-4A09-AE62-45B5531918F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33337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EE76A48-6816-49DF-9DDD-526E423C4B71}"/>
              </a:ext>
            </a:extLst>
          </p:cNvPr>
          <p:cNvSpPr>
            <a:spLocks noGrp="1"/>
          </p:cNvSpPr>
          <p:nvPr/>
        </p:nvSpPr>
        <p:spPr>
          <a:xfrm>
            <a:off x="971550" y="2438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DOCUMENTOS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C63679-4892-4FD1-9A1D-AF70D18A909F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Envio de espelhos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BB279E-56E2-4E5B-B40D-9371581B4582}"/>
              </a:ext>
            </a:extLst>
          </p:cNvPr>
          <p:cNvSpPr>
            <a:spLocks noGrp="1"/>
          </p:cNvSpPr>
          <p:nvPr/>
        </p:nvSpPr>
        <p:spPr>
          <a:xfrm>
            <a:off x="971550" y="3048000"/>
            <a:ext cx="2876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Usuários enviam PDFs em lote, por período e base. O sistema vincula motorista, registra histórico e controla substituições.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062FE3E-DAD0-4292-B84D-A75C22DE7D1F}"/>
              </a:ext>
            </a:extLst>
          </p:cNvPr>
          <p:cNvSpPr>
            <a:spLocks noGrp="1"/>
          </p:cNvSpPr>
          <p:nvPr/>
        </p:nvSpPr>
        <p:spPr>
          <a:xfrm>
            <a:off x="4429125" y="2266950"/>
            <a:ext cx="33337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8F0C121-4E0F-41E9-8E4A-3F7E9B79BD93}"/>
              </a:ext>
            </a:extLst>
          </p:cNvPr>
          <p:cNvSpPr>
            <a:spLocks noGrp="1"/>
          </p:cNvSpPr>
          <p:nvPr/>
        </p:nvSpPr>
        <p:spPr>
          <a:xfrm>
            <a:off x="4657725" y="2438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FINANCEIRO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D359B8-B7E7-489A-8C27-65316E2025D8}"/>
              </a:ext>
            </a:extLst>
          </p:cNvPr>
          <p:cNvSpPr>
            <a:spLocks noGrp="1"/>
          </p:cNvSpPr>
          <p:nvPr/>
        </p:nvSpPr>
        <p:spPr>
          <a:xfrm>
            <a:off x="4657725" y="26860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Notas e pagamentos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2C2C521-C75B-4FC7-AC2D-105F140C298B}"/>
              </a:ext>
            </a:extLst>
          </p:cNvPr>
          <p:cNvSpPr>
            <a:spLocks noGrp="1"/>
          </p:cNvSpPr>
          <p:nvPr/>
        </p:nvSpPr>
        <p:spPr>
          <a:xfrm>
            <a:off x="4657725" y="3048000"/>
            <a:ext cx="2876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Notas fiscais são acompanhadas por período. A planilha financeira atualiza status como Pago, Bloqueado e Pendente.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BF5C62C-E913-4383-9F39-402D7488DDD5}"/>
              </a:ext>
            </a:extLst>
          </p:cNvPr>
          <p:cNvSpPr>
            <a:spLocks noGrp="1"/>
          </p:cNvSpPr>
          <p:nvPr/>
        </p:nvSpPr>
        <p:spPr>
          <a:xfrm>
            <a:off x="8115300" y="2266950"/>
            <a:ext cx="33337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55FF86E-D530-4F9E-AF37-FA32989C998B}"/>
              </a:ext>
            </a:extLst>
          </p:cNvPr>
          <p:cNvSpPr>
            <a:spLocks noGrp="1"/>
          </p:cNvSpPr>
          <p:nvPr/>
        </p:nvSpPr>
        <p:spPr>
          <a:xfrm>
            <a:off x="8343900" y="243840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ATENDIMENTO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01935F-DD45-452F-9E07-31473244DF85}"/>
              </a:ext>
            </a:extLst>
          </p:cNvPr>
          <p:cNvSpPr>
            <a:spLocks noGrp="1"/>
          </p:cNvSpPr>
          <p:nvPr/>
        </p:nvSpPr>
        <p:spPr>
          <a:xfrm>
            <a:off x="8343900" y="26860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CRM do motorista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9E96BFF-023A-4657-9727-6F5750DDC410}"/>
              </a:ext>
            </a:extLst>
          </p:cNvPr>
          <p:cNvSpPr>
            <a:spLocks noGrp="1"/>
          </p:cNvSpPr>
          <p:nvPr/>
        </p:nvSpPr>
        <p:spPr>
          <a:xfrm>
            <a:off x="8343900" y="3048000"/>
            <a:ext cx="28765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O histórico reúne dados cadastrais, pagamentos, PDFs, notas, chamados e interações de suporte.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9FBF20B-5092-43AF-9090-799513568A19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333375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8C5973-A7E3-41B7-BEB3-3AC61EF0C76E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GESTÃO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D74839B-1535-426B-A755-E8CCE10EBEC5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Períodos e bases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FD80D01-6D40-41AB-8EBC-5A1882796174}"/>
              </a:ext>
            </a:extLst>
          </p:cNvPr>
          <p:cNvSpPr>
            <a:spLocks noGrp="1"/>
          </p:cNvSpPr>
          <p:nvPr/>
        </p:nvSpPr>
        <p:spPr>
          <a:xfrm>
            <a:off x="971550" y="4857750"/>
            <a:ext cx="2876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N3/N4 criam períodos, vinculam bases, aprovam envios e controlam visibilidade no Financeiro.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5A37314-4D69-4CC4-B092-F955A127DD0C}"/>
              </a:ext>
            </a:extLst>
          </p:cNvPr>
          <p:cNvSpPr>
            <a:spLocks noGrp="1"/>
          </p:cNvSpPr>
          <p:nvPr/>
        </p:nvSpPr>
        <p:spPr>
          <a:xfrm>
            <a:off x="4429125" y="4076700"/>
            <a:ext cx="333375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1339989-7C56-467F-BEB5-66EE7E81A009}"/>
              </a:ext>
            </a:extLst>
          </p:cNvPr>
          <p:cNvSpPr>
            <a:spLocks noGrp="1"/>
          </p:cNvSpPr>
          <p:nvPr/>
        </p:nvSpPr>
        <p:spPr>
          <a:xfrm>
            <a:off x="4657725" y="424815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AUDITORIA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C9678E8-D63B-4A36-B8B1-5492E5FAA45A}"/>
              </a:ext>
            </a:extLst>
          </p:cNvPr>
          <p:cNvSpPr>
            <a:spLocks noGrp="1"/>
          </p:cNvSpPr>
          <p:nvPr/>
        </p:nvSpPr>
        <p:spPr>
          <a:xfrm>
            <a:off x="4657725" y="44958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Rastreabilidade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78FAC93-29B7-453F-8348-6035F1EC5934}"/>
              </a:ext>
            </a:extLst>
          </p:cNvPr>
          <p:cNvSpPr>
            <a:spLocks noGrp="1"/>
          </p:cNvSpPr>
          <p:nvPr/>
        </p:nvSpPr>
        <p:spPr>
          <a:xfrm>
            <a:off x="4657725" y="4857750"/>
            <a:ext cx="2876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Logs, histórico de uploads, status e sessões ajudam a investigar operações e mudanças críticas.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92AAEAE2-6128-4DA4-8C8E-807C9B4792CC}"/>
              </a:ext>
            </a:extLst>
          </p:cNvPr>
          <p:cNvSpPr>
            <a:spLocks noGrp="1"/>
          </p:cNvSpPr>
          <p:nvPr/>
        </p:nvSpPr>
        <p:spPr>
          <a:xfrm>
            <a:off x="8115300" y="4076700"/>
            <a:ext cx="3333750" cy="163830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FC626C8-6671-41FF-A25E-B200BC7DB744}"/>
              </a:ext>
            </a:extLst>
          </p:cNvPr>
          <p:cNvSpPr>
            <a:spLocks noGrp="1"/>
          </p:cNvSpPr>
          <p:nvPr/>
        </p:nvSpPr>
        <p:spPr>
          <a:xfrm>
            <a:off x="8343900" y="4248150"/>
            <a:ext cx="2876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B0000"/>
                </a:solidFill>
              </a:defRPr>
            </a:pPr>
            <a:r>
              <a:rPr sz="975" b="1">
                <a:solidFill>
                  <a:srgbClr val="EB0000"/>
                </a:solidFill>
              </a:rPr>
              <a:t>INTEGRAÇÃO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60F9A5E-3156-467E-8ED2-2CE4EB3DE951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lang="pt-BR" sz="1500" b="1" dirty="0">
                <a:solidFill>
                  <a:srgbClr val="111827"/>
                </a:solidFill>
              </a:rPr>
              <a:t>Portal do Motorista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CC7F107-0185-43B4-86AD-8B96A0828614}"/>
              </a:ext>
            </a:extLst>
          </p:cNvPr>
          <p:cNvSpPr>
            <a:spLocks noGrp="1"/>
          </p:cNvSpPr>
          <p:nvPr/>
        </p:nvSpPr>
        <p:spPr>
          <a:xfrm>
            <a:off x="8343900" y="4857750"/>
            <a:ext cx="28765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Webhooks conectam o portal administrativo ao portal do motorista para visualização, notas fiscais e pagamentos.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44F852C-AAC4-41C9-945B-89E507B6F9A4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2</a:t>
            </a:r>
          </a:p>
        </p:txBody>
      </p:sp>
    </p:spTree>
    <p:extLst>
      <p:ext uri="{BB962C8B-B14F-4D97-AF65-F5344CB8AC3E}">
        <p14:creationId xmlns:p14="http://schemas.microsoft.com/office/powerpoint/2010/main" val="1792010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610439A-FE22-421E-AD6C-927EBD2D04C3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F37636-B551-4C29-89FF-27DA8DCA512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Cada perfil acessa apenas o que precisa operar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EDCCC2A-97A1-4531-9B8A-47DC8C4A8522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O controle por módulos e permissões reduz risco operacional e separa execução, aprovação e administração.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990DA38-9CF9-4379-B760-79F99E04F925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3504AA-1405-4512-9BF5-66CFEAC6CD2C}"/>
              </a:ext>
            </a:extLst>
          </p:cNvPr>
          <p:cNvSpPr>
            <a:spLocks noGrp="1"/>
          </p:cNvSpPr>
          <p:nvPr/>
        </p:nvSpPr>
        <p:spPr>
          <a:xfrm>
            <a:off x="1047750" y="25527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N1 / N2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EB58B74-FF31-4282-920A-28995535E6A0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Operam módulos liberados, como envio de PDFs ou atendimento, conforme permissões concedidas.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A16DF10-E09D-4610-80A4-433C046046E4}"/>
              </a:ext>
            </a:extLst>
          </p:cNvPr>
          <p:cNvSpPr>
            <a:spLocks noGrp="1"/>
          </p:cNvSpPr>
          <p:nvPr/>
        </p:nvSpPr>
        <p:spPr>
          <a:xfrm>
            <a:off x="3543300" y="23431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DA97DF5-E2E1-471D-BE3C-18EB51E4AB2C}"/>
              </a:ext>
            </a:extLst>
          </p:cNvPr>
          <p:cNvSpPr>
            <a:spLocks noGrp="1"/>
          </p:cNvSpPr>
          <p:nvPr/>
        </p:nvSpPr>
        <p:spPr>
          <a:xfrm>
            <a:off x="3771900" y="25527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F5B883F-DE9B-43DE-9316-2B436803DE71}"/>
              </a:ext>
            </a:extLst>
          </p:cNvPr>
          <p:cNvSpPr>
            <a:spLocks noGrp="1"/>
          </p:cNvSpPr>
          <p:nvPr/>
        </p:nvSpPr>
        <p:spPr>
          <a:xfrm>
            <a:off x="3771900" y="29337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Aprova períodos, revisa bases, acompanha ciclos e acessa dados operacionais amplos.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2AC5911-3EE9-46CB-8F17-279F4BEDFDE2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F3F7856-C201-40FD-8BFB-AF0FF0FB28A9}"/>
              </a:ext>
            </a:extLst>
          </p:cNvPr>
          <p:cNvSpPr>
            <a:spLocks noGrp="1"/>
          </p:cNvSpPr>
          <p:nvPr/>
        </p:nvSpPr>
        <p:spPr>
          <a:xfrm>
            <a:off x="6496050" y="25527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8006318-A500-4DAB-8813-51F401089131}"/>
              </a:ext>
            </a:extLst>
          </p:cNvPr>
          <p:cNvSpPr>
            <a:spLocks noGrp="1"/>
          </p:cNvSpPr>
          <p:nvPr/>
        </p:nvSpPr>
        <p:spPr>
          <a:xfrm>
            <a:off x="6496050" y="29337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Administra usuários, permissões, bases, configurações sensíveis e auditorias.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7FBEBDD-8292-4621-9F39-CAE98999B7A7}"/>
              </a:ext>
            </a:extLst>
          </p:cNvPr>
          <p:cNvSpPr>
            <a:spLocks noGrp="1"/>
          </p:cNvSpPr>
          <p:nvPr/>
        </p:nvSpPr>
        <p:spPr>
          <a:xfrm>
            <a:off x="8991600" y="23431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35D1488-B63D-4EC3-BC54-6A2E7577ADA7}"/>
              </a:ext>
            </a:extLst>
          </p:cNvPr>
          <p:cNvSpPr>
            <a:spLocks noGrp="1"/>
          </p:cNvSpPr>
          <p:nvPr/>
        </p:nvSpPr>
        <p:spPr>
          <a:xfrm>
            <a:off x="9220200" y="25527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Segurança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1F327D1-0F17-4026-897F-8F7B512078D3}"/>
              </a:ext>
            </a:extLst>
          </p:cNvPr>
          <p:cNvSpPr>
            <a:spLocks noGrp="1"/>
          </p:cNvSpPr>
          <p:nvPr/>
        </p:nvSpPr>
        <p:spPr>
          <a:xfrm>
            <a:off x="9220200" y="29337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Sessão autenticada, primeiro acesso, troca de senha, foto de perfil e histórico de sessão por usuário.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F39499-3EFB-4229-AFE7-F4483EE9FF8B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3</a:t>
            </a:r>
          </a:p>
        </p:txBody>
      </p:sp>
    </p:spTree>
    <p:extLst>
      <p:ext uri="{BB962C8B-B14F-4D97-AF65-F5344CB8AC3E}">
        <p14:creationId xmlns:p14="http://schemas.microsoft.com/office/powerpoint/2010/main" val="98624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B2B0DD9-0836-4D8D-A199-323C4F2831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0B0F1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B9E5905-B001-4EA2-B353-8E9F48CA72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810000" cy="6858000"/>
          </a:xfrm>
          <a:prstGeom prst="roundRect">
            <a:avLst>
              <a:gd name="adj" fmla="val 4000"/>
            </a:avLst>
          </a:prstGeom>
          <a:solidFill>
            <a:srgbClr val="21070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92341" y="361950"/>
            <a:ext cx="589468" cy="6096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3576593-9841-46FB-9A36-46C823B20E0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Portal Administrativo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892464-886D-4523-A984-300D7EAA47E3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B0000"/>
                </a:solidFill>
              </a:defRPr>
            </a:pPr>
            <a:r>
              <a:rPr sz="1350" b="1">
                <a:solidFill>
                  <a:srgbClr val="EB0000"/>
                </a:solidFill>
              </a:rPr>
              <a:t>CICLO OPERACIONAL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86257B7-5CCF-48CF-A406-AB2213907BAA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Do espelho ao pagamento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0989EF-A1DF-49E4-9B23-7DA5DDEA6A9A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7429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O fluxo foi desenhado para separar status de arquivo, status da nota fiscal e status financeiro do pagamento.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F28719D-1C56-4889-9DEA-E7985A3496AE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ALC Pereira Filho &amp; Transportes • Treinamento do Portal Administrativo • 4</a:t>
            </a:r>
          </a:p>
        </p:txBody>
      </p:sp>
    </p:spTree>
    <p:extLst>
      <p:ext uri="{BB962C8B-B14F-4D97-AF65-F5344CB8AC3E}">
        <p14:creationId xmlns:p14="http://schemas.microsoft.com/office/powerpoint/2010/main" val="213327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m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749" y="323850"/>
            <a:ext cx="663151" cy="6858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6045483-B283-4380-9621-82A7690135B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0A4382B-20D0-4241-8AB9-F73E7B8C3238}"/>
              </a:ext>
            </a:extLst>
          </p:cNvPr>
          <p:cNvSpPr>
            <a:spLocks noGrp="1"/>
          </p:cNvSpPr>
          <p:nvPr/>
        </p:nvSpPr>
        <p:spPr>
          <a:xfrm>
            <a:off x="723900" y="952500"/>
            <a:ext cx="8001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 ciclo completo tem oito etapas principais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53F69A-8525-45BD-BE4D-64B7C5399782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084"/>
                </a:solidFill>
              </a:defRPr>
            </a:pPr>
            <a:r>
              <a:rPr sz="1425" b="0">
                <a:solidFill>
                  <a:srgbClr val="647084"/>
                </a:solidFill>
              </a:rPr>
              <a:t>Cada etapa gera registro e alimenta telas diferentes do portal.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34516CE-039F-4473-BC7B-DA7D0A05D8E4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EB0000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54DB82-7875-4751-A212-DB0D1CF2AC53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58810A-C771-4035-BA57-B51FA5F898A8}"/>
              </a:ext>
            </a:extLst>
          </p:cNvPr>
          <p:cNvSpPr>
            <a:spLocks noGrp="1"/>
          </p:cNvSpPr>
          <p:nvPr/>
        </p:nvSpPr>
        <p:spPr>
          <a:xfrm>
            <a:off x="1447800" y="26670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Criar período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2D0BAE8-5FA8-46D4-966B-5FA128E3D23E}"/>
              </a:ext>
            </a:extLst>
          </p:cNvPr>
          <p:cNvSpPr>
            <a:spLocks noGrp="1"/>
          </p:cNvSpPr>
          <p:nvPr/>
        </p:nvSpPr>
        <p:spPr>
          <a:xfrm>
            <a:off x="3105150" y="278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FA9F11E-B0E9-4484-A1A6-649EEBA8523B}"/>
              </a:ext>
            </a:extLst>
          </p:cNvPr>
          <p:cNvSpPr>
            <a:spLocks noGrp="1"/>
          </p:cNvSpPr>
          <p:nvPr/>
        </p:nvSpPr>
        <p:spPr>
          <a:xfrm>
            <a:off x="3524250" y="245745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6A48DAF-41E0-4959-A363-5D1656BCD1A3}"/>
              </a:ext>
            </a:extLst>
          </p:cNvPr>
          <p:cNvSpPr>
            <a:spLocks noGrp="1"/>
          </p:cNvSpPr>
          <p:nvPr/>
        </p:nvSpPr>
        <p:spPr>
          <a:xfrm>
            <a:off x="3714750" y="2628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011C607-3CBB-43C9-9004-3940ABF6B4B3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Enviar espelhos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C3A3E9-5820-4D7C-817F-60DCB920470C}"/>
              </a:ext>
            </a:extLst>
          </p:cNvPr>
          <p:cNvSpPr>
            <a:spLocks noGrp="1"/>
          </p:cNvSpPr>
          <p:nvPr/>
        </p:nvSpPr>
        <p:spPr>
          <a:xfrm>
            <a:off x="5886450" y="278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3AD844C-2981-4B89-8D03-1B94704E7396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F86303-C89B-42D0-B7B3-0E42FE836E01}"/>
              </a:ext>
            </a:extLst>
          </p:cNvPr>
          <p:cNvSpPr>
            <a:spLocks noGrp="1"/>
          </p:cNvSpPr>
          <p:nvPr/>
        </p:nvSpPr>
        <p:spPr>
          <a:xfrm>
            <a:off x="6496050" y="2628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AB4BEC4-9DD6-45AE-B34E-7CF0C5C3CDF8}"/>
              </a:ext>
            </a:extLst>
          </p:cNvPr>
          <p:cNvSpPr>
            <a:spLocks noGrp="1"/>
          </p:cNvSpPr>
          <p:nvPr/>
        </p:nvSpPr>
        <p:spPr>
          <a:xfrm>
            <a:off x="7010400" y="26670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Aprovar período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2B51B50-EE9D-4775-8ED0-54E28F2CC51A}"/>
              </a:ext>
            </a:extLst>
          </p:cNvPr>
          <p:cNvSpPr>
            <a:spLocks noGrp="1"/>
          </p:cNvSpPr>
          <p:nvPr/>
        </p:nvSpPr>
        <p:spPr>
          <a:xfrm>
            <a:off x="8667750" y="27813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0AB262F-FAB7-43F5-B702-3AFAA9D40E31}"/>
              </a:ext>
            </a:extLst>
          </p:cNvPr>
          <p:cNvSpPr>
            <a:spLocks noGrp="1"/>
          </p:cNvSpPr>
          <p:nvPr/>
        </p:nvSpPr>
        <p:spPr>
          <a:xfrm>
            <a:off x="9086850" y="245745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FE9052-0B6F-49CA-A05B-B03BCA5E9DFE}"/>
              </a:ext>
            </a:extLst>
          </p:cNvPr>
          <p:cNvSpPr>
            <a:spLocks noGrp="1"/>
          </p:cNvSpPr>
          <p:nvPr/>
        </p:nvSpPr>
        <p:spPr>
          <a:xfrm>
            <a:off x="9277350" y="26289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04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F7ED04A-7E2C-4C27-A29A-91973F3452D5}"/>
              </a:ext>
            </a:extLst>
          </p:cNvPr>
          <p:cNvSpPr>
            <a:spLocks noGrp="1"/>
          </p:cNvSpPr>
          <p:nvPr/>
        </p:nvSpPr>
        <p:spPr>
          <a:xfrm>
            <a:off x="9791700" y="266700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Motorista visualiza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D5466AD-43F7-4890-A389-11F8EF78B6F3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45C569C-84A3-4CDC-BBF9-1F34D1C570D7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E6EA4FD-DD92-49B6-ACDC-D386F4C4746D}"/>
              </a:ext>
            </a:extLst>
          </p:cNvPr>
          <p:cNvSpPr>
            <a:spLocks noGrp="1"/>
          </p:cNvSpPr>
          <p:nvPr/>
        </p:nvSpPr>
        <p:spPr>
          <a:xfrm>
            <a:off x="1447800" y="428625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Motorista envia NF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8DA106D-737B-4FA4-BC4F-E281742CADCA}"/>
              </a:ext>
            </a:extLst>
          </p:cNvPr>
          <p:cNvSpPr>
            <a:spLocks noGrp="1"/>
          </p:cNvSpPr>
          <p:nvPr/>
        </p:nvSpPr>
        <p:spPr>
          <a:xfrm>
            <a:off x="3105150" y="44005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58CDD95-4399-47F3-82EC-DA4291506F6D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0C49F19-F88A-4AF7-8385-06F1F4698BB7}"/>
              </a:ext>
            </a:extLst>
          </p:cNvPr>
          <p:cNvSpPr>
            <a:spLocks noGrp="1"/>
          </p:cNvSpPr>
          <p:nvPr/>
        </p:nvSpPr>
        <p:spPr>
          <a:xfrm>
            <a:off x="3714750" y="4248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06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F7668A4-BCB7-4E9A-8338-99A99BB22943}"/>
              </a:ext>
            </a:extLst>
          </p:cNvPr>
          <p:cNvSpPr>
            <a:spLocks noGrp="1"/>
          </p:cNvSpPr>
          <p:nvPr/>
        </p:nvSpPr>
        <p:spPr>
          <a:xfrm>
            <a:off x="4229100" y="428625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Validar NF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2727504-8FEC-4897-863E-97D242675AE4}"/>
              </a:ext>
            </a:extLst>
          </p:cNvPr>
          <p:cNvSpPr>
            <a:spLocks noGrp="1"/>
          </p:cNvSpPr>
          <p:nvPr/>
        </p:nvSpPr>
        <p:spPr>
          <a:xfrm>
            <a:off x="5886450" y="44005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006F00A-E062-4F73-820E-977C9DDE73E3}"/>
              </a:ext>
            </a:extLst>
          </p:cNvPr>
          <p:cNvSpPr>
            <a:spLocks noGrp="1"/>
          </p:cNvSpPr>
          <p:nvPr/>
        </p:nvSpPr>
        <p:spPr>
          <a:xfrm>
            <a:off x="6305550" y="407670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9105A9F-D260-4450-85C0-27FE1FA54D5A}"/>
              </a:ext>
            </a:extLst>
          </p:cNvPr>
          <p:cNvSpPr>
            <a:spLocks noGrp="1"/>
          </p:cNvSpPr>
          <p:nvPr/>
        </p:nvSpPr>
        <p:spPr>
          <a:xfrm>
            <a:off x="6496050" y="4248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07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B8D3166-D64F-4A76-8D44-D2D78AB19EB3}"/>
              </a:ext>
            </a:extLst>
          </p:cNvPr>
          <p:cNvSpPr>
            <a:spLocks noGrp="1"/>
          </p:cNvSpPr>
          <p:nvPr/>
        </p:nvSpPr>
        <p:spPr>
          <a:xfrm>
            <a:off x="7010400" y="428625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Atualizar pagamento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63CD40E-BFD6-4552-9D0B-1D6EAD4BA0ED}"/>
              </a:ext>
            </a:extLst>
          </p:cNvPr>
          <p:cNvSpPr>
            <a:spLocks noGrp="1"/>
          </p:cNvSpPr>
          <p:nvPr/>
        </p:nvSpPr>
        <p:spPr>
          <a:xfrm>
            <a:off x="8667750" y="44005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EB0000"/>
                </a:solidFill>
              </a:defRPr>
            </a:pPr>
            <a:r>
              <a:rPr sz="2250" b="1">
                <a:solidFill>
                  <a:srgbClr val="EB0000"/>
                </a:solidFill>
              </a:rPr>
              <a:t>→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B4385A0-B80B-4B85-A4B0-F69330001CDD}"/>
              </a:ext>
            </a:extLst>
          </p:cNvPr>
          <p:cNvSpPr>
            <a:spLocks noGrp="1"/>
          </p:cNvSpPr>
          <p:nvPr/>
        </p:nvSpPr>
        <p:spPr>
          <a:xfrm>
            <a:off x="9086850" y="4076700"/>
            <a:ext cx="22860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D1F2D8D-6B00-4E8A-94F0-50D07B77074A}"/>
              </a:ext>
            </a:extLst>
          </p:cNvPr>
          <p:cNvSpPr>
            <a:spLocks noGrp="1"/>
          </p:cNvSpPr>
          <p:nvPr/>
        </p:nvSpPr>
        <p:spPr>
          <a:xfrm>
            <a:off x="9277350" y="42481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EB0000"/>
                </a:solidFill>
              </a:defRPr>
            </a:pPr>
            <a:r>
              <a:rPr sz="1725" b="1">
                <a:solidFill>
                  <a:srgbClr val="EB0000"/>
                </a:solidFill>
              </a:rPr>
              <a:t>08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44CA64B-7596-4552-BA78-5DD66EF3EE0F}"/>
              </a:ext>
            </a:extLst>
          </p:cNvPr>
          <p:cNvSpPr>
            <a:spLocks noGrp="1"/>
          </p:cNvSpPr>
          <p:nvPr/>
        </p:nvSpPr>
        <p:spPr>
          <a:xfrm>
            <a:off x="9791700" y="4286250"/>
            <a:ext cx="133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Acompanhar CRM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9BB0A3F-8F38-463E-92A2-5F0623B71579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5</a:t>
            </a:r>
          </a:p>
        </p:txBody>
      </p:sp>
    </p:spTree>
    <p:extLst>
      <p:ext uri="{BB962C8B-B14F-4D97-AF65-F5344CB8AC3E}">
        <p14:creationId xmlns:p14="http://schemas.microsoft.com/office/powerpoint/2010/main" val="122354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1AAC463-D737-4AB8-8BBC-61CEF5EAC5B0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67457A-D5F1-4DBE-9C93-5C5A40F72D5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Dashboard: leitura rápida da operação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D1AAA3B-9342-4B9A-B375-EDC9702EE8BB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tela inicial consolida indicadores, períodos recentes e atividades operacionais auditadas.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8BC5AD8-5795-4D8E-81F8-E1AE1A11C706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31432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B5C1F1-2B0E-4A6E-B62F-6692DDCA02EF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Resumo Geral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040AFDA-2549-4138-B974-506605A9E4B4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2686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Mostra PDFs enviados, notas recebidas, notas pendentes e motoristas pagos por período.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2B7C6F6-CB26-4AC8-8A4F-8035E86B28B8}"/>
              </a:ext>
            </a:extLst>
          </p:cNvPr>
          <p:cNvSpPr>
            <a:spLocks noGrp="1"/>
          </p:cNvSpPr>
          <p:nvPr/>
        </p:nvSpPr>
        <p:spPr>
          <a:xfrm>
            <a:off x="4514850" y="2305050"/>
            <a:ext cx="31432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3382BF-063A-4414-872C-35FA5BFB94EA}"/>
              </a:ext>
            </a:extLst>
          </p:cNvPr>
          <p:cNvSpPr>
            <a:spLocks noGrp="1"/>
          </p:cNvSpPr>
          <p:nvPr/>
        </p:nvSpPr>
        <p:spPr>
          <a:xfrm>
            <a:off x="4743450" y="25146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Atividades Recentes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C534330-5571-4642-85E1-757F1E7A804E}"/>
              </a:ext>
            </a:extLst>
          </p:cNvPr>
          <p:cNvSpPr>
            <a:spLocks noGrp="1"/>
          </p:cNvSpPr>
          <p:nvPr/>
        </p:nvSpPr>
        <p:spPr>
          <a:xfrm>
            <a:off x="4743450" y="2895600"/>
            <a:ext cx="2686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Exibe movimentações relevantes: criação de período, envio, substituição, histórico e alterações do fluxo.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02A4ED7-590F-4151-AE81-80A9860C8D52}"/>
              </a:ext>
            </a:extLst>
          </p:cNvPr>
          <p:cNvSpPr>
            <a:spLocks noGrp="1"/>
          </p:cNvSpPr>
          <p:nvPr/>
        </p:nvSpPr>
        <p:spPr>
          <a:xfrm>
            <a:off x="8210550" y="2305050"/>
            <a:ext cx="31432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B06B850-7493-4838-ABD9-B55BD225DFC9}"/>
              </a:ext>
            </a:extLst>
          </p:cNvPr>
          <p:cNvSpPr>
            <a:spLocks noGrp="1"/>
          </p:cNvSpPr>
          <p:nvPr/>
        </p:nvSpPr>
        <p:spPr>
          <a:xfrm>
            <a:off x="8439150" y="25146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Atalhos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C12D683-3DCA-4CA8-A9F6-A589C6DD1C58}"/>
              </a:ext>
            </a:extLst>
          </p:cNvPr>
          <p:cNvSpPr>
            <a:spLocks noGrp="1"/>
          </p:cNvSpPr>
          <p:nvPr/>
        </p:nvSpPr>
        <p:spPr>
          <a:xfrm>
            <a:off x="8439150" y="2895600"/>
            <a:ext cx="2686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Acesso rápido aos módulos liberados para o usuário, com atualização ao navegar entre telas.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514CA7-E57C-47D6-BFD5-965F43664265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6</a:t>
            </a:r>
          </a:p>
        </p:txBody>
      </p:sp>
    </p:spTree>
    <p:extLst>
      <p:ext uri="{BB962C8B-B14F-4D97-AF65-F5344CB8AC3E}">
        <p14:creationId xmlns:p14="http://schemas.microsoft.com/office/powerpoint/2010/main" val="165065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92EE922-E9C9-4A5E-921B-3ACE25E0A5C3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2AC7129-A2AF-487D-BD21-1FDF8A9F703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Envio de PDFs: onde nasce o espelho de pagamento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CD4E3A-2384-4E10-BDB0-CE21696323A8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O usuário seleciona período e base, envia PDFs em lote e acompanha a fila de documentos por usuário.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8348152-FDA4-4272-922F-70099A31EAD2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476500" cy="1857375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605F1B-AC79-422A-B808-556E441D5394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1. Selecionar contexto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AED038-0956-40E9-A0FC-46FAB080E38C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201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Escolha o período de pagamento e a base correta antes do upload.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01D8EC1-7481-42CF-9915-07F4ED0895DF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2476500" cy="1857375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A6DB11-0FA5-4DE7-8C30-EF0DD6C98579}"/>
              </a:ext>
            </a:extLst>
          </p:cNvPr>
          <p:cNvSpPr>
            <a:spLocks noGrp="1"/>
          </p:cNvSpPr>
          <p:nvPr/>
        </p:nvSpPr>
        <p:spPr>
          <a:xfrm>
            <a:off x="375285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2. Enviar em lote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000CAAD-2DA9-4744-AE8D-EAB195123C58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201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Até 100 PDFs por requisição, com validação de motorista e registro no bucket.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FBB19C-B596-40B0-88E0-D348A7106B80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2476500" cy="1857375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0B1423-DFF3-482C-8E5B-AE4AF54CF36A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3. Conferir fila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E36C1A7-63AC-425C-8D91-509556FB95E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201930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 fila mostra lotes, status, download, histórico, substituição e remoção.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AFD330C-0580-45DD-AC74-F8BB4AE14F0A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381250" cy="1857375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9B9EF5A-22D9-4FA4-B270-7186CF1DDF42}"/>
              </a:ext>
            </a:extLst>
          </p:cNvPr>
          <p:cNvSpPr>
            <a:spLocks noGrp="1"/>
          </p:cNvSpPr>
          <p:nvPr/>
        </p:nvSpPr>
        <p:spPr>
          <a:xfrm>
            <a:off x="927735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4. Tratar exceções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B6E103A-F50F-4C03-89BF-2A41440D7251}"/>
              </a:ext>
            </a:extLst>
          </p:cNvPr>
          <p:cNvSpPr>
            <a:spLocks noGrp="1"/>
          </p:cNvSpPr>
          <p:nvPr/>
        </p:nvSpPr>
        <p:spPr>
          <a:xfrm>
            <a:off x="9277350" y="2857500"/>
            <a:ext cx="192405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Quando não há pré-cadastro, o PDF fica aguardando vínculo do motorista.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35D63AC-4E4A-4817-ABC0-21AB7D63545A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7</a:t>
            </a:r>
          </a:p>
        </p:txBody>
      </p:sp>
    </p:spTree>
    <p:extLst>
      <p:ext uri="{BB962C8B-B14F-4D97-AF65-F5344CB8AC3E}">
        <p14:creationId xmlns:p14="http://schemas.microsoft.com/office/powerpoint/2010/main" val="128081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6DA86FF-B2E6-42B6-A50A-5C06A1DDCD2A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2855B25-9B26-4C20-80C6-7E0F4FA68577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Criação de Período controla a liberação do ciclo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013BBA-BA63-4F87-A159-723C5C4C2A22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N3/N4 criam períodos, vinculam bases, aprovam o envio e controlam a visibilidade no Financeiro sem quebrar o fluxo operacional.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5AABDFE-DCA5-44A7-A9C6-1ED8A2C0F97A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A103083-D349-4D50-9447-5FED16255030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Períodos criados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8E247A-99CC-48B8-ACAA-32C1795972E8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Lista todos os períodos cadastrados e permite acompanhar bases, PDFs e situação.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1B08B76-EAFC-4969-8AAE-D5EBA1ED98D8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EB5AD7-E2A9-4B91-9727-8A7555022F9F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Aprovação do período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95154D-58C0-44E7-9965-5A1E1C0617E6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Após todos enviarem, o N3 aprova o período para liberar espelhos no portal do motorista.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DA5581E-492B-4D62-9763-E0F43D5ED9B5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6BAFDD-6090-483D-B18B-71A811D08764}"/>
              </a:ext>
            </a:extLst>
          </p:cNvPr>
          <p:cNvSpPr>
            <a:spLocks noGrp="1"/>
          </p:cNvSpPr>
          <p:nvPr/>
        </p:nvSpPr>
        <p:spPr>
          <a:xfrm>
            <a:off x="84010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Visibilidade financeira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16AFF1D-B05F-4200-954D-38A6BDFD0F14}"/>
              </a:ext>
            </a:extLst>
          </p:cNvPr>
          <p:cNvSpPr>
            <a:spLocks noGrp="1"/>
          </p:cNvSpPr>
          <p:nvPr/>
        </p:nvSpPr>
        <p:spPr>
          <a:xfrm>
            <a:off x="84010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O botão Ativo/Finalizado afeta somente a tela Financeiro, não a lógica de aprovação dos espelhos.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C8CC4CA-59B0-4D4E-A6C6-AAB92F4C7149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8</a:t>
            </a:r>
          </a:p>
        </p:txBody>
      </p:sp>
    </p:spTree>
    <p:extLst>
      <p:ext uri="{BB962C8B-B14F-4D97-AF65-F5344CB8AC3E}">
        <p14:creationId xmlns:p14="http://schemas.microsoft.com/office/powerpoint/2010/main" val="57693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D5BECC3-EF40-4F2D-B1F0-8A254F78B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0B0F1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52A3473-7D0B-41D9-B9CC-D6FB789CD15C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Portal Administrativo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290F2E-9898-4C55-8526-8DA0F0B1C8C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lang="pt-BR" sz="2550" b="1" dirty="0">
                <a:solidFill>
                  <a:srgbClr val="FFFFFF"/>
                </a:solidFill>
              </a:rPr>
              <a:t>Portal do Motorista</a:t>
            </a:r>
            <a:r>
              <a:rPr sz="2550" b="1" dirty="0">
                <a:solidFill>
                  <a:srgbClr val="FFFFFF"/>
                </a:solidFill>
              </a:rPr>
              <a:t> </a:t>
            </a:r>
            <a:r>
              <a:rPr sz="2550" b="1" dirty="0" err="1">
                <a:solidFill>
                  <a:srgbClr val="FFFFFF"/>
                </a:solidFill>
              </a:rPr>
              <a:t>envia</a:t>
            </a:r>
            <a:r>
              <a:rPr sz="2550" b="1" dirty="0">
                <a:solidFill>
                  <a:srgbClr val="FFFFFF"/>
                </a:solidFill>
              </a:rPr>
              <a:t> </a:t>
            </a:r>
            <a:r>
              <a:rPr sz="2550" b="1" dirty="0" err="1">
                <a:solidFill>
                  <a:srgbClr val="FFFFFF"/>
                </a:solidFill>
              </a:rPr>
              <a:t>eventos</a:t>
            </a:r>
            <a:r>
              <a:rPr sz="2550" b="1" dirty="0">
                <a:solidFill>
                  <a:srgbClr val="FFFFFF"/>
                </a:solidFill>
              </a:rPr>
              <a:t> de volta </a:t>
            </a:r>
            <a:r>
              <a:rPr sz="2550" b="1" dirty="0" err="1">
                <a:solidFill>
                  <a:srgbClr val="FFFFFF"/>
                </a:solidFill>
              </a:rPr>
              <a:t>ao</a:t>
            </a:r>
            <a:r>
              <a:rPr sz="2550" b="1" dirty="0">
                <a:solidFill>
                  <a:srgbClr val="FFFFFF"/>
                </a:solidFill>
              </a:rPr>
              <a:t> portal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97D139E-13B1-47FC-BE5D-E24083F0D887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A integração mantém o administrativo sincronizado com o comportamento do motorista no portal externo.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03A3E8C-E83A-4292-999E-8BCBF9E0B9D0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3333750" cy="1619250"/>
          </a:xfrm>
          <a:prstGeom prst="roundRect">
            <a:avLst>
              <a:gd name="adj" fmla="val 9412"/>
            </a:avLst>
          </a:prstGeom>
          <a:solidFill>
            <a:srgbClr val="151B24"/>
          </a:solidFill>
          <a:ln w="9525">
            <a:solidFill>
              <a:srgbClr val="2B34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39C621-BBDD-428F-B484-96588974DC8A}"/>
              </a:ext>
            </a:extLst>
          </p:cNvPr>
          <p:cNvSpPr>
            <a:spLocks noGrp="1"/>
          </p:cNvSpPr>
          <p:nvPr/>
        </p:nvSpPr>
        <p:spPr>
          <a:xfrm>
            <a:off x="1028700" y="244792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Visualização do espelho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AD2DFD3-A15A-4ADA-BD5C-571CA48076F1}"/>
              </a:ext>
            </a:extLst>
          </p:cNvPr>
          <p:cNvSpPr>
            <a:spLocks noGrp="1"/>
          </p:cNvSpPr>
          <p:nvPr/>
        </p:nvSpPr>
        <p:spPr>
          <a:xfrm>
            <a:off x="1028700" y="2828925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Registra apenas a primeira visualização do motorista, evitando atualização contínua do horário.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846B303-119D-4598-ACE1-B1811E57784A}"/>
              </a:ext>
            </a:extLst>
          </p:cNvPr>
          <p:cNvSpPr>
            <a:spLocks noGrp="1"/>
          </p:cNvSpPr>
          <p:nvPr/>
        </p:nvSpPr>
        <p:spPr>
          <a:xfrm>
            <a:off x="4438650" y="2238375"/>
            <a:ext cx="3333750" cy="1619250"/>
          </a:xfrm>
          <a:prstGeom prst="roundRect">
            <a:avLst>
              <a:gd name="adj" fmla="val 9412"/>
            </a:avLst>
          </a:prstGeom>
          <a:solidFill>
            <a:srgbClr val="151B24"/>
          </a:solidFill>
          <a:ln w="9525">
            <a:solidFill>
              <a:srgbClr val="2B34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8D708A4-50B2-4299-A05D-1110C48C4E0E}"/>
              </a:ext>
            </a:extLst>
          </p:cNvPr>
          <p:cNvSpPr>
            <a:spLocks noGrp="1"/>
          </p:cNvSpPr>
          <p:nvPr/>
        </p:nvSpPr>
        <p:spPr>
          <a:xfrm>
            <a:off x="4667250" y="244792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Nota fiscal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53AFC2B-17F8-4FBD-8541-1059417487DA}"/>
              </a:ext>
            </a:extLst>
          </p:cNvPr>
          <p:cNvSpPr>
            <a:spLocks noGrp="1"/>
          </p:cNvSpPr>
          <p:nvPr/>
        </p:nvSpPr>
        <p:spPr>
          <a:xfrm>
            <a:off x="4667250" y="2828925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Recebe status de nota fiscal: recebida, em análise, aprovada, rejeitada ou processo concluído.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A6DCB7B-CB2C-4F84-A01D-4DF625FCBECC}"/>
              </a:ext>
            </a:extLst>
          </p:cNvPr>
          <p:cNvSpPr>
            <a:spLocks noGrp="1"/>
          </p:cNvSpPr>
          <p:nvPr/>
        </p:nvSpPr>
        <p:spPr>
          <a:xfrm>
            <a:off x="8077200" y="2238375"/>
            <a:ext cx="3333750" cy="1619250"/>
          </a:xfrm>
          <a:prstGeom prst="roundRect">
            <a:avLst>
              <a:gd name="adj" fmla="val 9412"/>
            </a:avLst>
          </a:prstGeom>
          <a:solidFill>
            <a:srgbClr val="151B24"/>
          </a:solidFill>
          <a:ln w="9525">
            <a:solidFill>
              <a:srgbClr val="2B34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E585279-A0CE-4717-A48D-501D23680720}"/>
              </a:ext>
            </a:extLst>
          </p:cNvPr>
          <p:cNvSpPr>
            <a:spLocks noGrp="1"/>
          </p:cNvSpPr>
          <p:nvPr/>
        </p:nvSpPr>
        <p:spPr>
          <a:xfrm>
            <a:off x="8305800" y="2447925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Pagamento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7492FEE-D181-4DC7-B37F-0C04ABDF65E3}"/>
              </a:ext>
            </a:extLst>
          </p:cNvPr>
          <p:cNvSpPr>
            <a:spLocks noGrp="1"/>
          </p:cNvSpPr>
          <p:nvPr/>
        </p:nvSpPr>
        <p:spPr>
          <a:xfrm>
            <a:off x="8305800" y="2828925"/>
            <a:ext cx="2876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CBD5E1"/>
                </a:solidFill>
              </a:defRPr>
            </a:pPr>
            <a:r>
              <a:rPr sz="1125" b="0">
                <a:solidFill>
                  <a:srgbClr val="CBD5E1"/>
                </a:solidFill>
              </a:rPr>
              <a:t>O portal administrativo envia status financeiro para o PDFOnline por webhook com histórico e retry.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EEC4219-4E25-443D-8D20-A225E726FE24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CBD5E1"/>
                </a:solidFill>
              </a:defRPr>
            </a:pPr>
            <a:r>
              <a:rPr sz="975" b="0">
                <a:solidFill>
                  <a:srgbClr val="CBD5E1"/>
                </a:solidFill>
              </a:rPr>
              <a:t>ALC Pereira Filho &amp; Transportes • Treinamento do Portal Administrativo • 9</a:t>
            </a:r>
          </a:p>
        </p:txBody>
      </p:sp>
    </p:spTree>
    <p:extLst>
      <p:ext uri="{BB962C8B-B14F-4D97-AF65-F5344CB8AC3E}">
        <p14:creationId xmlns:p14="http://schemas.microsoft.com/office/powerpoint/2010/main" val="436559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4E1D5CE-E726-4E3B-BE29-440558DCB632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8C9408-582C-4A7D-8190-5398B43C601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Notas Fiscais acompanha motorista por período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2611183-CE5F-415F-AFEF-280F18B181C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aba permite ver o status individual: espelho enviado, visualização, NF enviada, status do processo e atendimento.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D8C7D78-570D-4CF6-8092-705A89347055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D76F2EB-DDC3-4352-9766-7483CC717BA9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Abrir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B228104-9E06-4856-AE47-2F1671AAF7AD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Abre o CRM do motorista para consulta completa do cadastro e histórico.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9DDA1A1-0352-449B-8DE6-96A90CB114B6}"/>
              </a:ext>
            </a:extLst>
          </p:cNvPr>
          <p:cNvSpPr>
            <a:spLocks noGrp="1"/>
          </p:cNvSpPr>
          <p:nvPr/>
        </p:nvSpPr>
        <p:spPr>
          <a:xfrm>
            <a:off x="3543300" y="22669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1F2458-2C19-45CA-81D8-BAE72AA86162}"/>
              </a:ext>
            </a:extLst>
          </p:cNvPr>
          <p:cNvSpPr>
            <a:spLocks noGrp="1"/>
          </p:cNvSpPr>
          <p:nvPr/>
        </p:nvSpPr>
        <p:spPr>
          <a:xfrm>
            <a:off x="37719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Visualizar Nota Fiscal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4B2F6C9-5FAC-4528-83B1-47BF32938013}"/>
              </a:ext>
            </a:extLst>
          </p:cNvPr>
          <p:cNvSpPr>
            <a:spLocks noGrp="1"/>
          </p:cNvSpPr>
          <p:nvPr/>
        </p:nvSpPr>
        <p:spPr>
          <a:xfrm>
            <a:off x="3771900" y="28575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Abre a nota fiscal anexada pelo motorista no PDFOnline.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06F6C7-4FAF-49B7-942A-D9AAD4DE5BB7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B6BB33C-1ED3-4590-8228-667D26BDE9DA}"/>
              </a:ext>
            </a:extLst>
          </p:cNvPr>
          <p:cNvSpPr>
            <a:spLocks noGrp="1"/>
          </p:cNvSpPr>
          <p:nvPr/>
        </p:nvSpPr>
        <p:spPr>
          <a:xfrm>
            <a:off x="649605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Abrir PDF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7D7B1B5-6D77-4F7C-B537-92C364C3D133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Abre o espelho de pagamento enviado pelo administrativo.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2572CC9-8D4E-4715-AA3D-341879991BF0}"/>
              </a:ext>
            </a:extLst>
          </p:cNvPr>
          <p:cNvSpPr>
            <a:spLocks noGrp="1"/>
          </p:cNvSpPr>
          <p:nvPr/>
        </p:nvSpPr>
        <p:spPr>
          <a:xfrm>
            <a:off x="8991600" y="2266950"/>
            <a:ext cx="23812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4B72229-A072-4370-93E3-968C6E05A30B}"/>
              </a:ext>
            </a:extLst>
          </p:cNvPr>
          <p:cNvSpPr>
            <a:spLocks noGrp="1"/>
          </p:cNvSpPr>
          <p:nvPr/>
        </p:nvSpPr>
        <p:spPr>
          <a:xfrm>
            <a:off x="92202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Filtros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47B792F-D9F5-46DB-9C03-1D4A1C093577}"/>
              </a:ext>
            </a:extLst>
          </p:cNvPr>
          <p:cNvSpPr>
            <a:spLocks noGrp="1"/>
          </p:cNvSpPr>
          <p:nvPr/>
        </p:nvSpPr>
        <p:spPr>
          <a:xfrm>
            <a:off x="9220200" y="2857500"/>
            <a:ext cx="19240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Busca por nome, CPF, status e situação de atendimento.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9DA8704-CDCE-4763-9A61-137E20804A92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10</a:t>
            </a:r>
          </a:p>
        </p:txBody>
      </p:sp>
    </p:spTree>
    <p:extLst>
      <p:ext uri="{BB962C8B-B14F-4D97-AF65-F5344CB8AC3E}">
        <p14:creationId xmlns:p14="http://schemas.microsoft.com/office/powerpoint/2010/main" val="28480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8077A2C-7F1D-4925-802A-7BFBFD038342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337DBB4-BBF7-490E-BAC6-F7A04222CBD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Financeiro tem três abas para fechar o ciclo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710ED4-AF5D-41E0-B072-6359B7CF16B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tela reúne exportação de notas, geração de pagamentos aptos e atualização de status financeiro por planilha.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7EB2A04-2AF8-443B-A6B2-876915D6DD7B}"/>
              </a:ext>
            </a:extLst>
          </p:cNvPr>
          <p:cNvSpPr>
            <a:spLocks noGrp="1"/>
          </p:cNvSpPr>
          <p:nvPr/>
        </p:nvSpPr>
        <p:spPr>
          <a:xfrm>
            <a:off x="819150" y="2238375"/>
            <a:ext cx="32385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2D9DEF4-6B7D-4C46-BD50-A3CF754FDB4A}"/>
              </a:ext>
            </a:extLst>
          </p:cNvPr>
          <p:cNvSpPr>
            <a:spLocks noGrp="1"/>
          </p:cNvSpPr>
          <p:nvPr/>
        </p:nvSpPr>
        <p:spPr>
          <a:xfrm>
            <a:off x="1047750" y="244792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Notas Fiscais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171D4E-B7C8-4B01-A551-29996DAA4741}"/>
              </a:ext>
            </a:extLst>
          </p:cNvPr>
          <p:cNvSpPr>
            <a:spLocks noGrp="1"/>
          </p:cNvSpPr>
          <p:nvPr/>
        </p:nvSpPr>
        <p:spPr>
          <a:xfrm>
            <a:off x="1047750" y="2828925"/>
            <a:ext cx="2781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Seleciona período e exporta notas fiscais em massa, sem misturar espelhos de pagamento.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ED6CB3C-C62C-4918-A53E-76D2703FC54A}"/>
              </a:ext>
            </a:extLst>
          </p:cNvPr>
          <p:cNvSpPr>
            <a:spLocks noGrp="1"/>
          </p:cNvSpPr>
          <p:nvPr/>
        </p:nvSpPr>
        <p:spPr>
          <a:xfrm>
            <a:off x="4476750" y="2238375"/>
            <a:ext cx="32385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7EB8874-749A-4833-962C-44AA1F0B4B44}"/>
              </a:ext>
            </a:extLst>
          </p:cNvPr>
          <p:cNvSpPr>
            <a:spLocks noGrp="1"/>
          </p:cNvSpPr>
          <p:nvPr/>
        </p:nvSpPr>
        <p:spPr>
          <a:xfrm>
            <a:off x="4705350" y="244792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 pagar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8482D4E-2F5D-48E6-826D-2A1E1042C871}"/>
              </a:ext>
            </a:extLst>
          </p:cNvPr>
          <p:cNvSpPr>
            <a:spLocks noGrp="1"/>
          </p:cNvSpPr>
          <p:nvPr/>
        </p:nvSpPr>
        <p:spPr>
          <a:xfrm>
            <a:off x="4705350" y="2828925"/>
            <a:ext cx="2781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Lista motoristas aptos: espelho aprovado, nota fiscal enviada e validada, sem bloqueio ou pagamento concluído.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A638225-392C-4A63-8A64-B84CF708C997}"/>
              </a:ext>
            </a:extLst>
          </p:cNvPr>
          <p:cNvSpPr>
            <a:spLocks noGrp="1"/>
          </p:cNvSpPr>
          <p:nvPr/>
        </p:nvSpPr>
        <p:spPr>
          <a:xfrm>
            <a:off x="8134350" y="2238375"/>
            <a:ext cx="32385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0E4E1EE-5E4B-4743-A240-89798ABF68DA}"/>
              </a:ext>
            </a:extLst>
          </p:cNvPr>
          <p:cNvSpPr>
            <a:spLocks noGrp="1"/>
          </p:cNvSpPr>
          <p:nvPr/>
        </p:nvSpPr>
        <p:spPr>
          <a:xfrm>
            <a:off x="8362950" y="2447925"/>
            <a:ext cx="2781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Atualizar Pagamentos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2FDF5CE-BF19-4675-8972-0628B7E8AABD}"/>
              </a:ext>
            </a:extLst>
          </p:cNvPr>
          <p:cNvSpPr>
            <a:spLocks noGrp="1"/>
          </p:cNvSpPr>
          <p:nvPr/>
        </p:nvSpPr>
        <p:spPr>
          <a:xfrm>
            <a:off x="8362950" y="2828925"/>
            <a:ext cx="2781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 dirty="0" err="1">
                <a:solidFill>
                  <a:srgbClr val="647084"/>
                </a:solidFill>
              </a:rPr>
              <a:t>Importa</a:t>
            </a:r>
            <a:r>
              <a:rPr sz="1125" b="0" dirty="0">
                <a:solidFill>
                  <a:srgbClr val="647084"/>
                </a:solidFill>
              </a:rPr>
              <a:t> Excel, </a:t>
            </a:r>
            <a:r>
              <a:rPr sz="1125" b="0" dirty="0" err="1">
                <a:solidFill>
                  <a:srgbClr val="647084"/>
                </a:solidFill>
              </a:rPr>
              <a:t>pré-visualiza</a:t>
            </a:r>
            <a:r>
              <a:rPr sz="1125" b="0" dirty="0">
                <a:solidFill>
                  <a:srgbClr val="647084"/>
                </a:solidFill>
              </a:rPr>
              <a:t> </a:t>
            </a:r>
            <a:r>
              <a:rPr sz="1125" b="0" dirty="0" err="1">
                <a:solidFill>
                  <a:srgbClr val="647084"/>
                </a:solidFill>
              </a:rPr>
              <a:t>linha</a:t>
            </a:r>
            <a:r>
              <a:rPr sz="1125" b="0" dirty="0">
                <a:solidFill>
                  <a:srgbClr val="647084"/>
                </a:solidFill>
              </a:rPr>
              <a:t> a </a:t>
            </a:r>
            <a:r>
              <a:rPr sz="1125" b="0" dirty="0" err="1">
                <a:solidFill>
                  <a:srgbClr val="647084"/>
                </a:solidFill>
              </a:rPr>
              <a:t>linha</a:t>
            </a:r>
            <a:r>
              <a:rPr sz="1125" b="0" dirty="0">
                <a:solidFill>
                  <a:srgbClr val="647084"/>
                </a:solidFill>
              </a:rPr>
              <a:t>, </a:t>
            </a:r>
            <a:r>
              <a:rPr sz="1125" b="0" dirty="0" err="1">
                <a:solidFill>
                  <a:srgbClr val="647084"/>
                </a:solidFill>
              </a:rPr>
              <a:t>confirma</a:t>
            </a:r>
            <a:r>
              <a:rPr sz="1125" b="0" dirty="0">
                <a:solidFill>
                  <a:srgbClr val="647084"/>
                </a:solidFill>
              </a:rPr>
              <a:t> status e </a:t>
            </a:r>
            <a:r>
              <a:rPr sz="1125" b="0" dirty="0" err="1">
                <a:solidFill>
                  <a:srgbClr val="647084"/>
                </a:solidFill>
              </a:rPr>
              <a:t>dispara</a:t>
            </a:r>
            <a:r>
              <a:rPr sz="1125" b="0" dirty="0">
                <a:solidFill>
                  <a:srgbClr val="647084"/>
                </a:solidFill>
              </a:rPr>
              <a:t> webhook para o </a:t>
            </a:r>
            <a:r>
              <a:rPr lang="pt-BR" sz="1125" b="0" dirty="0">
                <a:solidFill>
                  <a:srgbClr val="647084"/>
                </a:solidFill>
              </a:rPr>
              <a:t>Portal do Motorista</a:t>
            </a:r>
            <a:r>
              <a:rPr sz="1125" b="0" dirty="0">
                <a:solidFill>
                  <a:srgbClr val="647084"/>
                </a:solidFill>
              </a:rPr>
              <a:t>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33FB00A-3D99-43E4-8A64-704D13A918D7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11</a:t>
            </a:r>
          </a:p>
        </p:txBody>
      </p:sp>
    </p:spTree>
    <p:extLst>
      <p:ext uri="{BB962C8B-B14F-4D97-AF65-F5344CB8AC3E}">
        <p14:creationId xmlns:p14="http://schemas.microsoft.com/office/powerpoint/2010/main" val="64952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3651107-B32C-41A9-A747-9F7DABEBA34B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5EFC7A2-0FF7-407D-BB89-D01025844B9E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Atualizar Pagamentos transforma a planilha em status oficial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3362E5-BB87-44AD-868A-BC0ED9CD9DA8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O processo é seguro: pré-visualização antes da confirmação, histórico do status e rastreio de webhooks.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0391AFF-8096-4DE3-823A-2F971F057325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D663627-6DC3-4A4F-9BD1-67B93F8D195C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Planilha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BE617E3-5F82-480E-B0DC-EB43B8E71BE9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20193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 dirty="0">
                <a:solidFill>
                  <a:srgbClr val="647084"/>
                </a:solidFill>
              </a:rPr>
              <a:t>Usa a </a:t>
            </a:r>
            <a:r>
              <a:rPr lang="pt-BR" sz="1125" b="0" dirty="0">
                <a:solidFill>
                  <a:srgbClr val="647084"/>
                </a:solidFill>
              </a:rPr>
              <a:t>planilha do Financeiro com os status: </a:t>
            </a:r>
            <a:r>
              <a:rPr sz="1125" b="0" dirty="0">
                <a:solidFill>
                  <a:srgbClr val="647084"/>
                </a:solidFill>
              </a:rPr>
              <a:t>PAGO, PENDENTE, BLOQUEADO </a:t>
            </a:r>
            <a:r>
              <a:rPr sz="1125" b="0" dirty="0" err="1">
                <a:solidFill>
                  <a:srgbClr val="647084"/>
                </a:solidFill>
              </a:rPr>
              <a:t>ou</a:t>
            </a:r>
            <a:r>
              <a:rPr sz="1125" b="0" dirty="0">
                <a:solidFill>
                  <a:srgbClr val="647084"/>
                </a:solidFill>
              </a:rPr>
              <a:t> NOTA FISCAL PENDENTE.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00AA7EF-6494-4231-A40B-BA78E153F66E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9865839-17A9-4BC9-A6F1-555B154792EF}"/>
              </a:ext>
            </a:extLst>
          </p:cNvPr>
          <p:cNvSpPr>
            <a:spLocks noGrp="1"/>
          </p:cNvSpPr>
          <p:nvPr/>
        </p:nvSpPr>
        <p:spPr>
          <a:xfrm>
            <a:off x="375285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Prévia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07376E-7FD2-44E1-8461-44F44FA67C75}"/>
              </a:ext>
            </a:extLst>
          </p:cNvPr>
          <p:cNvSpPr>
            <a:spLocks noGrp="1"/>
          </p:cNvSpPr>
          <p:nvPr/>
        </p:nvSpPr>
        <p:spPr>
          <a:xfrm>
            <a:off x="3752850" y="2857500"/>
            <a:ext cx="20193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Mostra motorista, CNPJ do favorecido, status atual, novo status, regra aplicada e validação.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EAB2D56-574E-44E0-8CCE-D51D38B7FEB6}"/>
              </a:ext>
            </a:extLst>
          </p:cNvPr>
          <p:cNvSpPr>
            <a:spLocks noGrp="1"/>
          </p:cNvSpPr>
          <p:nvPr/>
        </p:nvSpPr>
        <p:spPr>
          <a:xfrm>
            <a:off x="6286500" y="2266950"/>
            <a:ext cx="2476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AED5F00-69B4-49F7-8C9A-A8C70CCC1903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Confirmação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48A7874-8EC1-4C0F-AF42-6103E63A5445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20193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Atualiza pagamentos válidos, registra histórico e preserva mudanças anteriores.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7451437-37C7-4308-96A4-9534BBC0E0E4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381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CF459D0-4AD1-42E1-B82F-936D2C53E241}"/>
              </a:ext>
            </a:extLst>
          </p:cNvPr>
          <p:cNvSpPr>
            <a:spLocks noGrp="1"/>
          </p:cNvSpPr>
          <p:nvPr/>
        </p:nvSpPr>
        <p:spPr>
          <a:xfrm>
            <a:off x="927735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Webhook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5BD2BDC-8655-4F02-B71B-2DE06BBD0344}"/>
              </a:ext>
            </a:extLst>
          </p:cNvPr>
          <p:cNvSpPr>
            <a:spLocks noGrp="1"/>
          </p:cNvSpPr>
          <p:nvPr/>
        </p:nvSpPr>
        <p:spPr>
          <a:xfrm>
            <a:off x="9277350" y="2857500"/>
            <a:ext cx="19240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Envia o status ao PDFOnline. Falhas ficam pendentes para reprocessamento.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1A1EEB0-484C-4FFA-BA78-F1C328A886D9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12</a:t>
            </a:r>
          </a:p>
        </p:txBody>
      </p:sp>
    </p:spTree>
    <p:extLst>
      <p:ext uri="{BB962C8B-B14F-4D97-AF65-F5344CB8AC3E}">
        <p14:creationId xmlns:p14="http://schemas.microsoft.com/office/powerpoint/2010/main" val="621145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CF21A76-A734-4924-831D-EE0526BEF127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D54EDB2-9038-465C-B763-3CBD6361E75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 pagar exporta somente quem está pronto para pagamento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C09052-28A1-468D-A012-CB88D7774C8F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planilha de aptos evita pagar motoristas com pendências de aprovação, nota fiscal, bloqueio ou dados obrigatórios.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CA0FD78-8F5F-4617-9E69-447343E8DDF5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240DB0-BF49-4179-B00B-E8D4ED6EAFA1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Critérios de aptidão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B98880-8ED8-4836-9688-EF2B0F02B504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Espelho aprovado, nota fiscal enviada e validada, processo aguardando pagamento e status financeiro ainda não pago.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206FAFD-A40D-40D6-B7BE-B5D107DCF581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6BA2A23-2432-46F0-BF5B-29B39B38233F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Dados exportados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0BB16F8-8043-400F-A4DD-4EE42A9F6286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Nome do motorista, nome do favorecido, CNPJ do favorecido, valor total do PDF e base do motorista.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7043375-8463-4D2D-ACA9-24DCE9C8856C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1399508-7AF1-4B49-9C40-38AD48C7B439}"/>
              </a:ext>
            </a:extLst>
          </p:cNvPr>
          <p:cNvSpPr>
            <a:spLocks noGrp="1"/>
          </p:cNvSpPr>
          <p:nvPr/>
        </p:nvSpPr>
        <p:spPr>
          <a:xfrm>
            <a:off x="84010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Inconsistências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2B5B148-DCDF-4E3C-AB21-A3E1BF341B6D}"/>
              </a:ext>
            </a:extLst>
          </p:cNvPr>
          <p:cNvSpPr>
            <a:spLocks noGrp="1"/>
          </p:cNvSpPr>
          <p:nvPr/>
        </p:nvSpPr>
        <p:spPr>
          <a:xfrm>
            <a:off x="84010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Registros com dados obrigatórios ausentes são sinalizados antes da exportação.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417B78A-A804-439C-B7AE-3EEDAE1029D0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13</a:t>
            </a:r>
          </a:p>
        </p:txBody>
      </p:sp>
    </p:spTree>
    <p:extLst>
      <p:ext uri="{BB962C8B-B14F-4D97-AF65-F5344CB8AC3E}">
        <p14:creationId xmlns:p14="http://schemas.microsoft.com/office/powerpoint/2010/main" val="577569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309EFDA-736D-4DCF-8645-3FFD28EA0A1F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3E38D8-DAA0-47B0-9483-488BB5DA794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Atendimento concentra o histórico do motorista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D08798-C143-420F-9B92-EDB9B07EB8B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O CRM oferece visão única para suporte, conferência operacional e investigação de pendências.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EE8F805-3748-4A14-9464-237E9B79A4A8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2381250" cy="204787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72EAE7-0595-44CF-AD47-F8C0C47D02C5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Dados cadastrais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2758900-3037-4C46-8525-A2BC639067EE}"/>
              </a:ext>
            </a:extLst>
          </p:cNvPr>
          <p:cNvSpPr>
            <a:spLocks noGrp="1"/>
          </p:cNvSpPr>
          <p:nvPr/>
        </p:nvSpPr>
        <p:spPr>
          <a:xfrm>
            <a:off x="1028700" y="2857500"/>
            <a:ext cx="1924050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Consulta e edição de informações do motorista e favorecido.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3EA250D-F76A-4B0A-ABE3-2334FAB2CD7A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2381250" cy="204787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2750B9A-411C-48A5-9E5D-9500CDED4A52}"/>
              </a:ext>
            </a:extLst>
          </p:cNvPr>
          <p:cNvSpPr>
            <a:spLocks noGrp="1"/>
          </p:cNvSpPr>
          <p:nvPr/>
        </p:nvSpPr>
        <p:spPr>
          <a:xfrm>
            <a:off x="37338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Histórico de pagamentos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6A31C7-9319-4DF7-9686-323D02883BD8}"/>
              </a:ext>
            </a:extLst>
          </p:cNvPr>
          <p:cNvSpPr>
            <a:spLocks noGrp="1"/>
          </p:cNvSpPr>
          <p:nvPr/>
        </p:nvSpPr>
        <p:spPr>
          <a:xfrm>
            <a:off x="3733800" y="2857500"/>
            <a:ext cx="1924050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Mostra períodos, espelho enviado, visualizado, NF recebida, data de pagamento e status.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388277E-348B-4D8C-9FFC-AEE21E6916AC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2381250" cy="204787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B776F9-2EAE-402E-BE6B-709EABCDA3FE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Chamados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8D91AE3-AD7A-49CF-90B2-EBCEA8DB3F0C}"/>
              </a:ext>
            </a:extLst>
          </p:cNvPr>
          <p:cNvSpPr>
            <a:spLocks noGrp="1"/>
          </p:cNvSpPr>
          <p:nvPr/>
        </p:nvSpPr>
        <p:spPr>
          <a:xfrm>
            <a:off x="6438900" y="2857500"/>
            <a:ext cx="1924050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Registra atendimentos, anexos, movimentações e encerramento de solicitações.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12E395E-4C61-4E6A-98A4-532BAAD47292}"/>
              </a:ext>
            </a:extLst>
          </p:cNvPr>
          <p:cNvSpPr>
            <a:spLocks noGrp="1"/>
          </p:cNvSpPr>
          <p:nvPr/>
        </p:nvSpPr>
        <p:spPr>
          <a:xfrm>
            <a:off x="8915400" y="2266950"/>
            <a:ext cx="2381250" cy="2047875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E7F94E9-AF0B-4C4A-9EA2-3062C6254EF3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Notas internas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1D143CE-CB92-442C-8689-22AA7F07E0F6}"/>
              </a:ext>
            </a:extLst>
          </p:cNvPr>
          <p:cNvSpPr>
            <a:spLocks noGrp="1"/>
          </p:cNvSpPr>
          <p:nvPr/>
        </p:nvSpPr>
        <p:spPr>
          <a:xfrm>
            <a:off x="9144000" y="2857500"/>
            <a:ext cx="1924050" cy="132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Documenta observações e classificações para acompanhamento administrativo.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4617A0C-4600-474C-A301-312776A70A46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14</a:t>
            </a:r>
          </a:p>
        </p:txBody>
      </p:sp>
    </p:spTree>
    <p:extLst>
      <p:ext uri="{BB962C8B-B14F-4D97-AF65-F5344CB8AC3E}">
        <p14:creationId xmlns:p14="http://schemas.microsoft.com/office/powerpoint/2010/main" val="19435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AB3C017-206D-49BD-A377-26102195D30C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8B05E4-63A0-4113-AFD3-EAED595BDF9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Cadastro de usuários também é controle operacional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ED064C-56A3-4A75-99D3-AA408752CB3F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Usuários, permissões e histórico de sessão ajudam a manter responsabilidade e governança.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9F16BB8-2082-41BE-A219-9863EE413B42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9F04C55-5A0C-44A3-9EA3-EE8664D8FF39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Cadastro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0D46364-C990-4377-8D16-FE8BF737B652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Cria usuários, define nível N1 a N4, módulos e permissões efetivas.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5409958-9367-4CC4-B320-C5C69098AED7}"/>
              </a:ext>
            </a:extLst>
          </p:cNvPr>
          <p:cNvSpPr>
            <a:spLocks noGrp="1"/>
          </p:cNvSpPr>
          <p:nvPr/>
        </p:nvSpPr>
        <p:spPr>
          <a:xfrm>
            <a:off x="449580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9706D63-78E8-4945-ABC1-7456A00974B9}"/>
              </a:ext>
            </a:extLst>
          </p:cNvPr>
          <p:cNvSpPr>
            <a:spLocks noGrp="1"/>
          </p:cNvSpPr>
          <p:nvPr/>
        </p:nvSpPr>
        <p:spPr>
          <a:xfrm>
            <a:off x="472440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Segurança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4BD3F1-17EF-4021-8D32-4C768EB4246D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Primeiro acesso, reset de senha, bloqueio, ativação e desativação de usuários.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F27F947-2097-4463-BCC1-424D09F61E8A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190875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1776106-34F7-45F7-B4FA-21068D2A8911}"/>
              </a:ext>
            </a:extLst>
          </p:cNvPr>
          <p:cNvSpPr>
            <a:spLocks noGrp="1"/>
          </p:cNvSpPr>
          <p:nvPr/>
        </p:nvSpPr>
        <p:spPr>
          <a:xfrm>
            <a:off x="8401050" y="2476500"/>
            <a:ext cx="2733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Sessões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F3DC6A-2876-4478-A1D8-61FA30C713CE}"/>
              </a:ext>
            </a:extLst>
          </p:cNvPr>
          <p:cNvSpPr>
            <a:spLocks noGrp="1"/>
          </p:cNvSpPr>
          <p:nvPr/>
        </p:nvSpPr>
        <p:spPr>
          <a:xfrm>
            <a:off x="8401050" y="2857500"/>
            <a:ext cx="273367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Histórico resumido de login, logout, IP, dispositivo e tempo estimado de atividade.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B309F54-9BC1-4F7C-9085-D819D982461A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15</a:t>
            </a:r>
          </a:p>
        </p:txBody>
      </p:sp>
    </p:spTree>
    <p:extLst>
      <p:ext uri="{BB962C8B-B14F-4D97-AF65-F5344CB8AC3E}">
        <p14:creationId xmlns:p14="http://schemas.microsoft.com/office/powerpoint/2010/main" val="50850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9DCAFA6-F9B4-4122-8A05-203F36F3BC25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E0639B-D487-4A8C-B3B5-18FF9B242ED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Rotina recomendada para a operação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8EB4BB0-CEE2-44C7-BC32-30A312A40744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A rotina abaixo reduz retrabalho e mantém os dados consistentes entre administrativo, PDFOnline e financeiro.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ADCAA99-6141-4950-8A74-7FB287CC6203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238125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97E4A6-B628-4F03-A594-8980B2A15E5D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Antes do envio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E145662-81C5-4657-8E57-DEE06441428F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19240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Criar período, revisar bases, confirmar pré-cadastro dos motoristas e orientar usuários responsáveis.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2F9E06F-F2DE-41CB-9213-BBA98E891822}"/>
              </a:ext>
            </a:extLst>
          </p:cNvPr>
          <p:cNvSpPr>
            <a:spLocks noGrp="1"/>
          </p:cNvSpPr>
          <p:nvPr/>
        </p:nvSpPr>
        <p:spPr>
          <a:xfrm>
            <a:off x="3409950" y="2171700"/>
            <a:ext cx="238125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3C9073-F35F-43BB-8832-ABA6A748F831}"/>
              </a:ext>
            </a:extLst>
          </p:cNvPr>
          <p:cNvSpPr>
            <a:spLocks noGrp="1"/>
          </p:cNvSpPr>
          <p:nvPr/>
        </p:nvSpPr>
        <p:spPr>
          <a:xfrm>
            <a:off x="3638550" y="2381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Durante o envio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B050265-2F90-4A11-A867-C90A1906FFB7}"/>
              </a:ext>
            </a:extLst>
          </p:cNvPr>
          <p:cNvSpPr>
            <a:spLocks noGrp="1"/>
          </p:cNvSpPr>
          <p:nvPr/>
        </p:nvSpPr>
        <p:spPr>
          <a:xfrm>
            <a:off x="3638550" y="2762250"/>
            <a:ext cx="19240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Selecionar período/base, subir PDFs em lote, revisar fila e corrigir arquivos aguardando cadastro.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F0E9B92-F42D-4DCB-BFD2-0E365EEC37E3}"/>
              </a:ext>
            </a:extLst>
          </p:cNvPr>
          <p:cNvSpPr>
            <a:spLocks noGrp="1"/>
          </p:cNvSpPr>
          <p:nvPr/>
        </p:nvSpPr>
        <p:spPr>
          <a:xfrm>
            <a:off x="6057900" y="2171700"/>
            <a:ext cx="238125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422756A-B8B4-48A9-AA8E-29ADE021B97A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Após o envio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E99A27F-D947-4488-B819-DC3301D53B17}"/>
              </a:ext>
            </a:extLst>
          </p:cNvPr>
          <p:cNvSpPr>
            <a:spLocks noGrp="1"/>
          </p:cNvSpPr>
          <p:nvPr/>
        </p:nvSpPr>
        <p:spPr>
          <a:xfrm>
            <a:off x="6286500" y="2762250"/>
            <a:ext cx="19240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N3 aprova período, motoristas visualizam espelho, aprovam e enviam nota fiscal pelo PDFOnline.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43B9717-EBC3-4943-8DB5-F2A9DCBD5807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38125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B819A71-A5DC-4A04-AD96-7CB71EFEC50E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Fechamento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4FBBE5D-4CEB-4520-907F-17BD2725A651}"/>
              </a:ext>
            </a:extLst>
          </p:cNvPr>
          <p:cNvSpPr>
            <a:spLocks noGrp="1"/>
          </p:cNvSpPr>
          <p:nvPr/>
        </p:nvSpPr>
        <p:spPr>
          <a:xfrm>
            <a:off x="8934450" y="2762250"/>
            <a:ext cx="19240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Validar notas, exportar aptos, importar planilha financeira, conferir webhooks e acompanhar CRM.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F581922-7665-4A36-A76D-AC3BBD8B9D71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16</a:t>
            </a:r>
          </a:p>
        </p:txBody>
      </p:sp>
    </p:spTree>
    <p:extLst>
      <p:ext uri="{BB962C8B-B14F-4D97-AF65-F5344CB8AC3E}">
        <p14:creationId xmlns:p14="http://schemas.microsoft.com/office/powerpoint/2010/main" val="1165282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50120" y="323850"/>
            <a:ext cx="626310" cy="6477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61C97F74-8408-4EF7-A4CA-037E4F22249E}"/>
              </a:ext>
            </a:extLst>
          </p:cNvPr>
          <p:cNvSpPr>
            <a:spLocks noGrp="1"/>
          </p:cNvSpPr>
          <p:nvPr/>
        </p:nvSpPr>
        <p:spPr>
          <a:xfrm>
            <a:off x="723900" y="3619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Portal Administrativo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3E0A8A-1A9C-475A-BFAC-114FECA0340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933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Checklist de treinamento para novos usuários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A479168-07D3-473C-A322-64A2F9A639B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084"/>
                </a:solidFill>
              </a:defRPr>
            </a:pPr>
            <a:r>
              <a:rPr sz="1275" b="0">
                <a:solidFill>
                  <a:srgbClr val="647084"/>
                </a:solidFill>
              </a:rPr>
              <a:t>Use esta sequência para capacitar operadores e administradores sem pular etapas críticas.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3CD44A0-88C9-4E2E-875F-A50F6C644BFC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4953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872BB54-A5A9-4E74-A920-F88FBD659015}"/>
              </a:ext>
            </a:extLst>
          </p:cNvPr>
          <p:cNvSpPr>
            <a:spLocks noGrp="1"/>
          </p:cNvSpPr>
          <p:nvPr/>
        </p:nvSpPr>
        <p:spPr>
          <a:xfrm>
            <a:off x="1047750" y="23812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Operador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9DA92FA-D347-41E2-A787-F9449C418037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4958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1. Entrar no portal e alternar tema.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2. Selecionar módulo liberado.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3. Enviar PDFs com período e base corretos.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4. Conferir fila, histórico e substituições.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5. Abrir CRM quando houver dúvida.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1555E4B-423E-42F7-8EAB-4B48E502C841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4953000" cy="257175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8ED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B12C89D-03EC-43EF-9628-1347EF99C72D}"/>
              </a:ext>
            </a:extLst>
          </p:cNvPr>
          <p:cNvSpPr>
            <a:spLocks noGrp="1"/>
          </p:cNvSpPr>
          <p:nvPr/>
        </p:nvSpPr>
        <p:spPr>
          <a:xfrm>
            <a:off x="6648450" y="23812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Administrador / Financeiro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8258DE-21EB-4B37-99AA-D947965A9E34}"/>
              </a:ext>
            </a:extLst>
          </p:cNvPr>
          <p:cNvSpPr>
            <a:spLocks noGrp="1"/>
          </p:cNvSpPr>
          <p:nvPr/>
        </p:nvSpPr>
        <p:spPr>
          <a:xfrm>
            <a:off x="6648450" y="2762250"/>
            <a:ext cx="44958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1. Criar e aprovar períodos.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2. Gerenciar bases e permissões.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3. Exportar notas fiscais e aptos.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4. Importar status de pagamento.</a:t>
            </a:r>
          </a:p>
          <a:p>
            <a:pPr algn="l">
              <a:defRPr sz="1125" b="0">
                <a:solidFill>
                  <a:srgbClr val="647084"/>
                </a:solidFill>
              </a:defRPr>
            </a:pPr>
            <a:r>
              <a:rPr sz="1125" b="0">
                <a:solidFill>
                  <a:srgbClr val="647084"/>
                </a:solidFill>
              </a:rPr>
              <a:t>5. Reprocessar webhooks e auditar atividades.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00A5685-60AF-4F92-96B1-8B0ACEDB0004}"/>
              </a:ext>
            </a:extLst>
          </p:cNvPr>
          <p:cNvSpPr>
            <a:spLocks noGrp="1"/>
          </p:cNvSpPr>
          <p:nvPr/>
        </p:nvSpPr>
        <p:spPr>
          <a:xfrm>
            <a:off x="723900" y="645795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47084"/>
                </a:solidFill>
              </a:defRPr>
            </a:pPr>
            <a:r>
              <a:rPr sz="975" b="0">
                <a:solidFill>
                  <a:srgbClr val="647084"/>
                </a:solidFill>
              </a:rPr>
              <a:t>ALC Pereira Filho &amp; Transportes • Treinamento do Portal Administrativo • 17</a:t>
            </a:r>
          </a:p>
        </p:txBody>
      </p:sp>
    </p:spTree>
    <p:extLst>
      <p:ext uri="{BB962C8B-B14F-4D97-AF65-F5344CB8AC3E}">
        <p14:creationId xmlns:p14="http://schemas.microsoft.com/office/powerpoint/2010/main" val="12135714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1606</Words>
  <Application>Microsoft Office PowerPoint</Application>
  <DocSecurity>0</DocSecurity>
  <PresentationFormat>Widescreen</PresentationFormat>
  <Paragraphs>207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Wesley Oliveira</cp:lastModifiedBy>
  <cp:revision>3</cp:revision>
  <dcterms:created xsi:type="dcterms:W3CDTF">2026-07-16T02:16:04Z</dcterms:created>
  <dcterms:modified xsi:type="dcterms:W3CDTF">2026-07-16T12:53:02Z</dcterms:modified>
</cp:coreProperties>
</file>